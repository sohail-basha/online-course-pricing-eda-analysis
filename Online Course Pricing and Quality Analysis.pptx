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Roboto-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textbox</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actionButton</a:t>
            </a:r>
            <a:endParaRPr/>
          </a:p>
          <a:p>
            <a:pPr indent="0" lvl="0" marL="0" rtl="0" algn="l">
              <a:spcBef>
                <a:spcPts val="0"/>
              </a:spcBef>
              <a:spcAft>
                <a:spcPts val="0"/>
              </a:spcAft>
              <a:buNone/>
            </a:pPr>
            <a:r>
              <a:rPr b="0" lang="en-US"/>
              <a:t>No alt text provided</a:t>
            </a:r>
            <a:endParaRPr/>
          </a:p>
          <a:p>
            <a:pPr indent="0" lvl="0" marL="0" rtl="0" algn="l">
              <a:spcBef>
                <a:spcPts val="0"/>
              </a:spcBef>
              <a:spcAft>
                <a:spcPts val="0"/>
              </a:spcAft>
              <a:buNone/>
            </a:pPr>
            <a:r>
              <a:t/>
            </a:r>
            <a:endParaRPr/>
          </a:p>
        </p:txBody>
      </p:sp>
      <p:sp>
        <p:nvSpPr>
          <p:cNvPr id="290" name="Google Shape;29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 name="Shape 19"/>
        <p:cNvGrpSpPr/>
        <p:nvPr/>
      </p:nvGrpSpPr>
      <p:grpSpPr>
        <a:xfrm>
          <a:off x="0" y="0"/>
          <a:ext cx="0" cy="0"/>
          <a:chOff x="0" y="0"/>
          <a:chExt cx="0" cy="0"/>
        </a:xfrm>
      </p:grpSpPr>
      <p:sp>
        <p:nvSpPr>
          <p:cNvPr id="20" name="Google Shape;20;p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 name="Google Shape;22;p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www.linkedin.com/in/sohailbasha789" TargetMode="External"/><Relationship Id="rId5" Type="http://schemas.openxmlformats.org/officeDocument/2006/relationships/hyperlink" Target="https://github.com/Sohail-Basha" TargetMode="External"/><Relationship Id="rId6" Type="http://schemas.openxmlformats.org/officeDocument/2006/relationships/hyperlink" Target="https://github.com/Sohail-Basha" TargetMode="External"/><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hyperlink" Target="https://docs.google.com/spreadsheets/d/1f-oR6D6qw7rBRvvaAvZ2qj1ZFE3LWYXu_e9DAVx6DXU/edit?usp=shar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13"/>
          <p:cNvGrpSpPr/>
          <p:nvPr/>
        </p:nvGrpSpPr>
        <p:grpSpPr>
          <a:xfrm>
            <a:off x="8626" y="8626"/>
            <a:ext cx="12192001" cy="6858000"/>
            <a:chOff x="0" y="0"/>
            <a:chExt cx="12192001" cy="6858000"/>
          </a:xfrm>
        </p:grpSpPr>
        <p:pic>
          <p:nvPicPr>
            <p:cNvPr descr="A white background with black and white clouds&#10;&#10;AI-generated content may be incorrect." id="90" name="Google Shape;90;p13"/>
            <p:cNvPicPr preferRelativeResize="0"/>
            <p:nvPr/>
          </p:nvPicPr>
          <p:blipFill rotWithShape="1">
            <a:blip r:embed="rId3">
              <a:alphaModFix/>
            </a:blip>
            <a:srcRect b="0" l="0" r="0" t="0"/>
            <a:stretch/>
          </p:blipFill>
          <p:spPr>
            <a:xfrm>
              <a:off x="1" y="4733629"/>
              <a:ext cx="12192000" cy="2124371"/>
            </a:xfrm>
            <a:prstGeom prst="rect">
              <a:avLst/>
            </a:prstGeom>
            <a:noFill/>
            <a:ln>
              <a:noFill/>
            </a:ln>
          </p:spPr>
        </p:pic>
        <p:pic>
          <p:nvPicPr>
            <p:cNvPr id="91" name="Google Shape;91;p13"/>
            <p:cNvPicPr preferRelativeResize="0"/>
            <p:nvPr/>
          </p:nvPicPr>
          <p:blipFill rotWithShape="1">
            <a:blip r:embed="rId4">
              <a:alphaModFix/>
            </a:blip>
            <a:srcRect b="0" l="0" r="0" t="0"/>
            <a:stretch/>
          </p:blipFill>
          <p:spPr>
            <a:xfrm>
              <a:off x="0" y="0"/>
              <a:ext cx="12192000" cy="2810267"/>
            </a:xfrm>
            <a:prstGeom prst="rect">
              <a:avLst/>
            </a:prstGeom>
            <a:noFill/>
            <a:ln>
              <a:noFill/>
            </a:ln>
          </p:spPr>
        </p:pic>
      </p:grpSp>
      <p:sp>
        <p:nvSpPr>
          <p:cNvPr id="92" name="Google Shape;92;p13"/>
          <p:cNvSpPr txBox="1"/>
          <p:nvPr/>
        </p:nvSpPr>
        <p:spPr>
          <a:xfrm>
            <a:off x="1627933" y="2745639"/>
            <a:ext cx="9196200" cy="13854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0" i="1" lang="en-US" sz="2000" u="none" cap="none" strike="noStrike">
                <a:solidFill>
                  <a:schemeClr val="dk1"/>
                </a:solidFill>
                <a:latin typeface="Times New Roman"/>
                <a:ea typeface="Times New Roman"/>
                <a:cs typeface="Times New Roman"/>
                <a:sym typeface="Times New Roman"/>
              </a:rPr>
              <a:t>Project on </a:t>
            </a:r>
            <a:endParaRPr/>
          </a:p>
          <a:p>
            <a:pPr indent="0" lvl="0" marL="0" rtl="0" algn="ctr">
              <a:spcBef>
                <a:spcPts val="0"/>
              </a:spcBef>
              <a:spcAft>
                <a:spcPts val="0"/>
              </a:spcAft>
              <a:buClr>
                <a:schemeClr val="dk1"/>
              </a:buClr>
              <a:buFont typeface="Arial"/>
              <a:buNone/>
            </a:pPr>
            <a:r>
              <a:rPr b="1" lang="en-US" sz="3600">
                <a:solidFill>
                  <a:srgbClr val="FF0000"/>
                </a:solidFill>
                <a:latin typeface="Times New Roman"/>
                <a:ea typeface="Times New Roman"/>
                <a:cs typeface="Times New Roman"/>
                <a:sym typeface="Times New Roman"/>
              </a:rPr>
              <a:t>Online Course Pricing and Quality Analysis</a:t>
            </a:r>
            <a:endParaRPr/>
          </a:p>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(Website : </a:t>
            </a:r>
            <a:r>
              <a:rPr i="1" lang="en-US" sz="1800">
                <a:solidFill>
                  <a:schemeClr val="dk1"/>
                </a:solidFill>
                <a:latin typeface="Times New Roman"/>
                <a:ea typeface="Times New Roman"/>
                <a:cs typeface="Times New Roman"/>
                <a:sym typeface="Times New Roman"/>
              </a:rPr>
              <a:t>Class Central</a:t>
            </a:r>
            <a:r>
              <a:rPr b="0" i="1" lang="en-US" sz="1800" u="none" cap="none" strike="noStrike">
                <a:solidFill>
                  <a:schemeClr val="dk1"/>
                </a:solidFill>
                <a:latin typeface="Times New Roman"/>
                <a:ea typeface="Times New Roman"/>
                <a:cs typeface="Times New Roman"/>
                <a:sym typeface="Times New Roman"/>
              </a:rPr>
              <a:t>)</a:t>
            </a:r>
            <a:endParaRPr b="0" i="1" sz="1600" u="none" cap="none" strike="noStrike">
              <a:solidFill>
                <a:schemeClr val="dk1"/>
              </a:solidFill>
              <a:latin typeface="Times New Roman"/>
              <a:ea typeface="Times New Roman"/>
              <a:cs typeface="Times New Roman"/>
              <a:sym typeface="Times New Roman"/>
            </a:endParaRPr>
          </a:p>
        </p:txBody>
      </p:sp>
      <p:sp>
        <p:nvSpPr>
          <p:cNvPr id="93" name="Google Shape;93;p13"/>
          <p:cNvSpPr txBox="1"/>
          <p:nvPr/>
        </p:nvSpPr>
        <p:spPr>
          <a:xfrm>
            <a:off x="7803322" y="5487618"/>
            <a:ext cx="3931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Presented by :</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Name : </a:t>
            </a:r>
            <a:r>
              <a:rPr b="1" lang="en-US" sz="1800">
                <a:solidFill>
                  <a:schemeClr val="dk1"/>
                </a:solidFill>
                <a:latin typeface="Times New Roman"/>
                <a:ea typeface="Times New Roman"/>
                <a:cs typeface="Times New Roman"/>
                <a:sym typeface="Times New Roman"/>
              </a:rPr>
              <a:t>Gounda Sohail Basha</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Batch No : </a:t>
            </a:r>
            <a:r>
              <a:rPr b="1" lang="en-US" sz="1800">
                <a:solidFill>
                  <a:schemeClr val="dk1"/>
                </a:solidFill>
                <a:latin typeface="Times New Roman"/>
                <a:ea typeface="Times New Roman"/>
                <a:cs typeface="Times New Roman"/>
                <a:sym typeface="Times New Roman"/>
              </a:rPr>
              <a:t>436</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Branch : </a:t>
            </a:r>
            <a:r>
              <a:rPr b="1" lang="en-US" sz="1800">
                <a:solidFill>
                  <a:schemeClr val="dk1"/>
                </a:solidFill>
                <a:latin typeface="Times New Roman"/>
                <a:ea typeface="Times New Roman"/>
                <a:cs typeface="Times New Roman"/>
                <a:sym typeface="Times New Roman"/>
              </a:rPr>
              <a:t>Dilsukhnagar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A close up of a logo&#10;&#10;AI-generated content may be incorrect." id="98" name="Google Shape;98;p14"/>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99" name="Google Shape;99;p14"/>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About me</a:t>
            </a:r>
            <a:br>
              <a:rPr b="1" lang="en-US" sz="4000">
                <a:solidFill>
                  <a:srgbClr val="FF0000"/>
                </a:solidFill>
                <a:latin typeface="Times New Roman"/>
                <a:ea typeface="Times New Roman"/>
                <a:cs typeface="Times New Roman"/>
                <a:sym typeface="Times New Roman"/>
              </a:rPr>
            </a:br>
            <a:r>
              <a:rPr b="1" lang="en-US" sz="4000">
                <a:solidFill>
                  <a:srgbClr val="FF0000"/>
                </a:solidFill>
                <a:latin typeface="Times New Roman"/>
                <a:ea typeface="Times New Roman"/>
                <a:cs typeface="Times New Roman"/>
                <a:sym typeface="Times New Roman"/>
              </a:rPr>
              <a: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00" name="Google Shape;100;p14"/>
          <p:cNvSpPr txBox="1"/>
          <p:nvPr/>
        </p:nvSpPr>
        <p:spPr>
          <a:xfrm>
            <a:off x="345383" y="966787"/>
            <a:ext cx="11352900" cy="2940000"/>
          </a:xfrm>
          <a:prstGeom prst="rect">
            <a:avLst/>
          </a:prstGeom>
          <a:noFill/>
          <a:ln>
            <a:noFill/>
          </a:ln>
        </p:spPr>
        <p:txBody>
          <a:bodyPr anchorCtr="0" anchor="t" bIns="45700" lIns="91425" spcFirstLastPara="1" rIns="91425" wrap="square" tIns="45700">
            <a:spAutoFit/>
          </a:bodyPr>
          <a:lstStyle/>
          <a:p>
            <a:pPr indent="0" lvl="1" marL="457200" marR="0" rtl="0" algn="just">
              <a:lnSpc>
                <a:spcPct val="150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 am </a:t>
            </a:r>
            <a:r>
              <a:rPr b="1" lang="en-US" sz="1800">
                <a:solidFill>
                  <a:schemeClr val="dk1"/>
                </a:solidFill>
                <a:latin typeface="Times New Roman"/>
                <a:ea typeface="Times New Roman"/>
                <a:cs typeface="Times New Roman"/>
                <a:sym typeface="Times New Roman"/>
              </a:rPr>
              <a:t>Gounda Sohail Basha</a:t>
            </a:r>
            <a:r>
              <a:rPr b="1" i="0" lang="en-US" sz="1800" u="none" cap="none" strike="noStrike">
                <a:solidFill>
                  <a:schemeClr val="dk1"/>
                </a:solidFill>
                <a:latin typeface="Times New Roman"/>
                <a:ea typeface="Times New Roman"/>
                <a:cs typeface="Times New Roman"/>
                <a:sym typeface="Times New Roman"/>
              </a:rPr>
              <a:t>. </a:t>
            </a:r>
            <a:endParaRPr/>
          </a:p>
          <a:p>
            <a:pPr indent="0" lvl="1" marL="457200" marR="0" rtl="0" algn="just">
              <a:lnSpc>
                <a:spcPct val="150000"/>
              </a:lnSpc>
              <a:spcBef>
                <a:spcPts val="0"/>
              </a:spcBef>
              <a:spcAft>
                <a:spcPts val="0"/>
              </a:spcAft>
              <a:buNone/>
            </a:pPr>
            <a:r>
              <a:t/>
            </a:r>
            <a:endParaRPr b="0" i="0" sz="10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 completed my B.Tech in </a:t>
            </a:r>
            <a:r>
              <a:rPr lang="en-US" sz="1800">
                <a:solidFill>
                  <a:schemeClr val="dk1"/>
                </a:solidFill>
                <a:latin typeface="Times New Roman"/>
                <a:ea typeface="Times New Roman"/>
                <a:cs typeface="Times New Roman"/>
                <a:sym typeface="Times New Roman"/>
              </a:rPr>
              <a:t>Mechanical </a:t>
            </a:r>
            <a:r>
              <a:rPr lang="en-US" sz="1800">
                <a:solidFill>
                  <a:schemeClr val="dk1"/>
                </a:solidFill>
                <a:latin typeface="Times New Roman"/>
                <a:ea typeface="Times New Roman"/>
                <a:cs typeface="Times New Roman"/>
                <a:sym typeface="Times New Roman"/>
              </a:rPr>
              <a:t>Engineering</a:t>
            </a:r>
            <a:r>
              <a:rPr b="0" i="0" lang="en-US" sz="1800" u="none" cap="none" strike="noStrike">
                <a:solidFill>
                  <a:schemeClr val="dk1"/>
                </a:solidFill>
                <a:latin typeface="Times New Roman"/>
                <a:ea typeface="Times New Roman"/>
                <a:cs typeface="Times New Roman"/>
                <a:sym typeface="Times New Roman"/>
              </a:rPr>
              <a:t> from </a:t>
            </a:r>
            <a:r>
              <a:rPr lang="en-US" sz="1800">
                <a:solidFill>
                  <a:schemeClr val="dk1"/>
                </a:solidFill>
                <a:latin typeface="Times New Roman"/>
                <a:ea typeface="Times New Roman"/>
                <a:cs typeface="Times New Roman"/>
                <a:sym typeface="Times New Roman"/>
              </a:rPr>
              <a:t>G Pulla Reddy Engineering College.</a:t>
            </a:r>
            <a:endParaRPr/>
          </a:p>
          <a:p>
            <a:pPr indent="0" lvl="1" marL="457200" marR="0" rtl="0" algn="just">
              <a:lnSpc>
                <a:spcPct val="150000"/>
              </a:lnSpc>
              <a:spcBef>
                <a:spcPts val="0"/>
              </a:spcBef>
              <a:spcAft>
                <a:spcPts val="0"/>
              </a:spcAft>
              <a:buNone/>
            </a:pPr>
            <a:r>
              <a:t/>
            </a:r>
            <a:endParaRPr b="0" i="0" sz="1000" u="none" cap="none" strike="noStrike">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Linkedin : </a:t>
            </a:r>
            <a:r>
              <a:rPr lang="en-US" sz="1800" u="sng">
                <a:solidFill>
                  <a:schemeClr val="hlink"/>
                </a:solidFill>
                <a:highlight>
                  <a:srgbClr val="FFFFFF"/>
                </a:highlight>
                <a:latin typeface="Roboto"/>
                <a:ea typeface="Roboto"/>
                <a:cs typeface="Roboto"/>
                <a:sym typeface="Roboto"/>
                <a:hlinkClick r:id="rId4"/>
              </a:rPr>
              <a:t>www.linkedin.com/in/sohailbasha789</a:t>
            </a: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1" marL="45720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Github :</a:t>
            </a:r>
            <a:r>
              <a:rPr b="0" i="0" lang="en-US" sz="1800" u="sng" cap="none" strike="noStrike">
                <a:solidFill>
                  <a:schemeClr val="hlink"/>
                </a:solidFill>
                <a:latin typeface="Times New Roman"/>
                <a:ea typeface="Times New Roman"/>
                <a:cs typeface="Times New Roman"/>
                <a:sym typeface="Times New Roman"/>
                <a:hlinkClick r:id="rId5"/>
              </a:rPr>
              <a:t> https://</a:t>
            </a:r>
            <a:r>
              <a:rPr lang="en-US" sz="1800" u="sng">
                <a:solidFill>
                  <a:schemeClr val="hlink"/>
                </a:solidFill>
                <a:latin typeface="Times New Roman"/>
                <a:ea typeface="Times New Roman"/>
                <a:cs typeface="Times New Roman"/>
                <a:sym typeface="Times New Roman"/>
                <a:hlinkClick r:id="rId6"/>
              </a:rPr>
              <a:t>github.com/Sohail-Basha</a:t>
            </a:r>
            <a:endParaRPr b="0" i="0" sz="1800" u="none" cap="none" strike="noStrike">
              <a:solidFill>
                <a:schemeClr val="dk1"/>
              </a:solidFill>
              <a:latin typeface="Times New Roman"/>
              <a:ea typeface="Times New Roman"/>
              <a:cs typeface="Times New Roman"/>
              <a:sym typeface="Times New Roman"/>
            </a:endParaRPr>
          </a:p>
          <a:p>
            <a:pPr indent="0" lvl="1" marL="457200" marR="0" rtl="0" algn="just">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01" name="Google Shape;101;p14"/>
          <p:cNvPicPr preferRelativeResize="0"/>
          <p:nvPr/>
        </p:nvPicPr>
        <p:blipFill rotWithShape="1">
          <a:blip r:embed="rId7">
            <a:alphaModFix/>
          </a:blip>
          <a:srcRect b="4058" l="51546" r="0" t="19420"/>
          <a:stretch/>
        </p:blipFill>
        <p:spPr>
          <a:xfrm>
            <a:off x="10127973" y="3794411"/>
            <a:ext cx="1570384" cy="24800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nvSpPr>
        <p:spPr>
          <a:xfrm>
            <a:off x="674298" y="168343"/>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Agenda</a:t>
            </a:r>
            <a:br>
              <a:rPr b="1" lang="en-US" sz="4000">
                <a:solidFill>
                  <a:srgbClr val="FF0000"/>
                </a:solidFill>
                <a:latin typeface="Times New Roman"/>
                <a:ea typeface="Times New Roman"/>
                <a:cs typeface="Times New Roman"/>
                <a:sym typeface="Times New Roman"/>
              </a:rPr>
            </a:br>
            <a:br>
              <a:rPr b="1" lang="en-US" sz="4000">
                <a:solidFill>
                  <a:srgbClr val="FF0000"/>
                </a:solidFill>
                <a:latin typeface="Times New Roman"/>
                <a:ea typeface="Times New Roman"/>
                <a:cs typeface="Times New Roman"/>
                <a:sym typeface="Times New Roman"/>
              </a:rPr>
            </a:br>
            <a:r>
              <a:rPr b="1" lang="en-US" sz="4000">
                <a:solidFill>
                  <a:srgbClr val="FF0000"/>
                </a:solidFill>
                <a:latin typeface="Times New Roman"/>
                <a:ea typeface="Times New Roman"/>
                <a:cs typeface="Times New Roman"/>
                <a:sym typeface="Times New Roman"/>
              </a:rPr>
              <a: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107" name="Google Shape;107;p15"/>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08" name="Google Shape;108;p15"/>
          <p:cNvSpPr txBox="1"/>
          <p:nvPr/>
        </p:nvSpPr>
        <p:spPr>
          <a:xfrm>
            <a:off x="674298" y="828908"/>
            <a:ext cx="9727096" cy="5576976"/>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Introduction &amp; Problem Statement</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Business Problem &amp; Objectives</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Data Collection &amp; Preparation</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Data Understanding &amp; Cleaning</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Exploratory Data Analysis</a:t>
            </a:r>
            <a:endParaRPr/>
          </a:p>
          <a:p>
            <a:pPr indent="-342900" lvl="1" marL="80010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Univariate Analysis</a:t>
            </a:r>
            <a:endParaRPr/>
          </a:p>
          <a:p>
            <a:pPr indent="-342900" lvl="1" marL="80010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Bivariate Analysis</a:t>
            </a:r>
            <a:endParaRPr/>
          </a:p>
          <a:p>
            <a:pPr indent="-342900" lvl="1" marL="80010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Multivariate Analysis</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Hypothesis Testing</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Key Insights &amp; Recommendations</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Conclusion</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Q&amp;A</a:t>
            </a:r>
            <a:endParaRPr/>
          </a:p>
        </p:txBody>
      </p:sp>
      <p:pic>
        <p:nvPicPr>
          <p:cNvPr id="109" name="Google Shape;109;p15"/>
          <p:cNvPicPr preferRelativeResize="0"/>
          <p:nvPr/>
        </p:nvPicPr>
        <p:blipFill rotWithShape="1">
          <a:blip r:embed="rId4">
            <a:alphaModFix/>
          </a:blip>
          <a:srcRect b="0" l="0" r="0" t="0"/>
          <a:stretch/>
        </p:blipFill>
        <p:spPr>
          <a:xfrm>
            <a:off x="6862877" y="1101586"/>
            <a:ext cx="4654825" cy="4654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Public Speaker - Free Presentation Template for Google Slides and PowerPoint  | #06124" id="115" name="Google Shape;115;p16"/>
          <p:cNvPicPr preferRelativeResize="0"/>
          <p:nvPr/>
        </p:nvPicPr>
        <p:blipFill rotWithShape="1">
          <a:blip r:embed="rId3">
            <a:alphaModFix/>
          </a:blip>
          <a:srcRect b="4523" l="-1" r="40231" t="12523"/>
          <a:stretch/>
        </p:blipFill>
        <p:spPr>
          <a:xfrm>
            <a:off x="11042374" y="-4984"/>
            <a:ext cx="1149626" cy="120113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descr="A close up of a logo&#10;&#10;AI-generated content may be incorrect." id="116" name="Google Shape;116;p16"/>
          <p:cNvPicPr preferRelativeResize="0"/>
          <p:nvPr/>
        </p:nvPicPr>
        <p:blipFill rotWithShape="1">
          <a:blip r:embed="rId4">
            <a:alphaModFix/>
          </a:blip>
          <a:srcRect b="30658" l="22201" r="22736" t="18728"/>
          <a:stretch/>
        </p:blipFill>
        <p:spPr>
          <a:xfrm>
            <a:off x="9113520" y="6096264"/>
            <a:ext cx="2915920" cy="660565"/>
          </a:xfrm>
          <a:prstGeom prst="rect">
            <a:avLst/>
          </a:prstGeom>
          <a:noFill/>
          <a:ln>
            <a:noFill/>
          </a:ln>
        </p:spPr>
      </p:pic>
      <p:sp>
        <p:nvSpPr>
          <p:cNvPr id="117" name="Google Shape;117;p16"/>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Introduction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18" name="Google Shape;118;p16"/>
          <p:cNvSpPr txBox="1"/>
          <p:nvPr/>
        </p:nvSpPr>
        <p:spPr>
          <a:xfrm>
            <a:off x="674298" y="1102177"/>
            <a:ext cx="10843500" cy="5864400"/>
          </a:xfrm>
          <a:prstGeom prst="rect">
            <a:avLst/>
          </a:prstGeom>
          <a:noFill/>
          <a:ln>
            <a:noFill/>
          </a:ln>
        </p:spPr>
        <p:txBody>
          <a:bodyPr anchorCtr="0" anchor="t" bIns="45700" lIns="91425" spcFirstLastPara="1" rIns="91425" wrap="square" tIns="45700">
            <a:spAutoFit/>
          </a:bodyPr>
          <a:lstStyle/>
          <a:p>
            <a:pPr indent="-387350" lvl="0" marL="457200" rtl="0" algn="l">
              <a:lnSpc>
                <a:spcPct val="115000"/>
              </a:lnSpc>
              <a:spcBef>
                <a:spcPts val="120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Online education has grown rapidly, and today there are thousands of courses available across different platforms. These courses come with different pricing models in which some are free, while others are paid. However, it is not always clear whether paid courses are actually better in quality than free ones.</a:t>
            </a:r>
            <a:endParaRPr sz="2500">
              <a:solidFill>
                <a:schemeClr val="dk1"/>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Many learners rely on ratings and reviews to judge a course, but these numbers can sometimes be misleading if they are not analyzed properly. Different platforms also present information in different ways, making it difficult to compare courses fairly.</a:t>
            </a:r>
            <a:endParaRPr sz="2500">
              <a:solidFill>
                <a:schemeClr val="dk1"/>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This project uses web scraping and data analysis to study the relationship between course pricing, ratings, and reviews. The goal is to understand whether paid courses truly perform better than free courses and to provide clear, data-driven insights that can help learners make better decisions.</a:t>
            </a:r>
            <a:endParaRPr sz="2500">
              <a:solidFill>
                <a:schemeClr val="dk1"/>
              </a:solidFill>
              <a:latin typeface="Times New Roman"/>
              <a:ea typeface="Times New Roman"/>
              <a:cs typeface="Times New Roman"/>
              <a:sym typeface="Times New Roman"/>
            </a:endParaRPr>
          </a:p>
          <a:p>
            <a:pPr indent="0" lvl="0" marL="0" marR="0" rtl="0" algn="just">
              <a:lnSpc>
                <a:spcPct val="150000"/>
              </a:lnSpc>
              <a:spcBef>
                <a:spcPts val="120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A close up of a logo&#10;&#10;AI-generated content may be incorrect." id="124" name="Google Shape;124;p17"/>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25" name="Google Shape;125;p17"/>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Problem Statement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26" name="Google Shape;126;p17"/>
          <p:cNvSpPr txBox="1"/>
          <p:nvPr/>
        </p:nvSpPr>
        <p:spPr>
          <a:xfrm>
            <a:off x="674298" y="1145301"/>
            <a:ext cx="11169300" cy="5391000"/>
          </a:xfrm>
          <a:prstGeom prst="rect">
            <a:avLst/>
          </a:prstGeom>
          <a:noFill/>
          <a:ln>
            <a:noFill/>
          </a:ln>
        </p:spPr>
        <p:txBody>
          <a:bodyPr anchorCtr="0" anchor="t" bIns="45700" lIns="91425" spcFirstLastPara="1" rIns="91425" wrap="square" tIns="45700">
            <a:spAutoFit/>
          </a:bodyPr>
          <a:lstStyle/>
          <a:p>
            <a:pPr indent="-387350" lvl="0" marL="457200" rtl="0" algn="l">
              <a:lnSpc>
                <a:spcPct val="115000"/>
              </a:lnSpc>
              <a:spcBef>
                <a:spcPts val="120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Online learning platforms offer many courses with different pricing options, such as free and paid. However, it is not clear whether paid courses are actually better in quality than free ones.</a:t>
            </a:r>
            <a:endParaRPr sz="2500">
              <a:solidFill>
                <a:schemeClr val="dk1"/>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Learners usually depend on ratings and reviews to choose a course. But without proper analysis, these numbers can be misleading. Different platforms also show course information in different ways, which makes comparison difficult.</a:t>
            </a:r>
            <a:endParaRPr sz="2500">
              <a:solidFill>
                <a:schemeClr val="dk1"/>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Because of this, learners often make decisions based on assumptions instead of data.</a:t>
            </a:r>
            <a:endParaRPr sz="2500">
              <a:solidFill>
                <a:schemeClr val="dk1"/>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chemeClr val="dk1"/>
              </a:buClr>
              <a:buSzPts val="2500"/>
              <a:buFont typeface="Times New Roman"/>
              <a:buChar char="❖"/>
            </a:pPr>
            <a:r>
              <a:rPr b="1" lang="en-US" sz="2500">
                <a:solidFill>
                  <a:schemeClr val="dk1"/>
                </a:solidFill>
                <a:latin typeface="Times New Roman"/>
                <a:ea typeface="Times New Roman"/>
                <a:cs typeface="Times New Roman"/>
                <a:sym typeface="Times New Roman"/>
              </a:rPr>
              <a:t>The Agenda through this project is to solve this problem by collecting and analyzing course data to understand the relationship between pricing, ratings, and reviews in a clear and data-driven way.</a:t>
            </a:r>
            <a:endParaRPr b="1" sz="2500">
              <a:solidFill>
                <a:schemeClr val="dk1"/>
              </a:solidFill>
              <a:latin typeface="Times New Roman"/>
              <a:ea typeface="Times New Roman"/>
              <a:cs typeface="Times New Roman"/>
              <a:sym typeface="Times New Roman"/>
            </a:endParaRPr>
          </a:p>
          <a:p>
            <a:pPr indent="0" lvl="0" marL="0" marR="0" rtl="0" algn="just">
              <a:lnSpc>
                <a:spcPct val="150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127" name="Google Shape;127;p17" title="Copilot_20260214_015557.png"/>
          <p:cNvPicPr preferRelativeResize="0"/>
          <p:nvPr/>
        </p:nvPicPr>
        <p:blipFill>
          <a:blip r:embed="rId4">
            <a:alphaModFix/>
          </a:blip>
          <a:stretch>
            <a:fillRect/>
          </a:stretch>
        </p:blipFill>
        <p:spPr>
          <a:xfrm>
            <a:off x="10701600" y="0"/>
            <a:ext cx="1490400" cy="993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A close up of a logo&#10;&#10;AI-generated content may be incorrect." id="133" name="Google Shape;133;p18"/>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34" name="Google Shape;134;p18"/>
          <p:cNvSpPr txBox="1"/>
          <p:nvPr/>
        </p:nvSpPr>
        <p:spPr>
          <a:xfrm>
            <a:off x="674298" y="48473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Business Problem Statement </a:t>
            </a: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135" name="Google Shape;135;p18"/>
          <p:cNvSpPr txBox="1"/>
          <p:nvPr/>
        </p:nvSpPr>
        <p:spPr>
          <a:xfrm>
            <a:off x="674300" y="597550"/>
            <a:ext cx="11169300" cy="6182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2400"/>
              </a:spcBef>
              <a:spcAft>
                <a:spcPts val="0"/>
              </a:spcAft>
              <a:buClr>
                <a:schemeClr val="dk1"/>
              </a:buClr>
              <a:buSzPts val="1100"/>
              <a:buFont typeface="Arial"/>
              <a:buNone/>
            </a:pPr>
            <a:r>
              <a:t/>
            </a:r>
            <a:endParaRPr b="1" sz="23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Educational platforms, training institutes, and learners rely on course ratings and pricing information to evaluate course quality and value. However, insights based on a single platform may provide only a partial and sometimes misleading view.</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Different platforms use different pricing labels and present ratings and reviews in various formats. This makes it difficult to clearly understand whether paid courses truly offer better quality than free courses. Without a consolidated and data-driven analysis, learners may choose courses based on assumptions rather than reliable insights.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The main goal is to address the business problem by collecting course data through web scraping and analyzing pricing, ratings, and engagement patterns to provide clear, actionable insights into online course quality.</a:t>
            </a:r>
            <a:endParaRPr sz="2400">
              <a:solidFill>
                <a:schemeClr val="dk1"/>
              </a:solidFill>
            </a:endParaRPr>
          </a:p>
          <a:p>
            <a:pPr indent="0" lvl="0" marL="0" marR="0" rtl="0" algn="just">
              <a:lnSpc>
                <a:spcPct val="150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136" name="Google Shape;136;p18" title="Copilot_20260214_015557.png"/>
          <p:cNvPicPr preferRelativeResize="0"/>
          <p:nvPr/>
        </p:nvPicPr>
        <p:blipFill>
          <a:blip r:embed="rId4">
            <a:alphaModFix/>
          </a:blip>
          <a:stretch>
            <a:fillRect/>
          </a:stretch>
        </p:blipFill>
        <p:spPr>
          <a:xfrm>
            <a:off x="10701600" y="0"/>
            <a:ext cx="1490400" cy="993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A close up of a logo&#10;&#10;AI-generated content may be incorrect." id="141" name="Google Shape;141;p19"/>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42" name="Google Shape;142;p19"/>
          <p:cNvSpPr txBox="1"/>
          <p:nvPr/>
        </p:nvSpPr>
        <p:spPr>
          <a:xfrm>
            <a:off x="674298" y="484736"/>
            <a:ext cx="9727200" cy="66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Objective</a:t>
            </a:r>
            <a:endParaRPr/>
          </a:p>
        </p:txBody>
      </p:sp>
      <p:sp>
        <p:nvSpPr>
          <p:cNvPr id="143" name="Google Shape;143;p19"/>
          <p:cNvSpPr txBox="1"/>
          <p:nvPr/>
        </p:nvSpPr>
        <p:spPr>
          <a:xfrm>
            <a:off x="674300" y="1156177"/>
            <a:ext cx="10559700" cy="4494600"/>
          </a:xfrm>
          <a:prstGeom prst="rect">
            <a:avLst/>
          </a:prstGeom>
          <a:noFill/>
          <a:ln>
            <a:noFill/>
          </a:ln>
        </p:spPr>
        <p:txBody>
          <a:bodyPr anchorCtr="0" anchor="t" bIns="45700" lIns="91425" spcFirstLastPara="1" rIns="91425" wrap="square" tIns="45700">
            <a:spAutoFit/>
          </a:bodyPr>
          <a:lstStyle/>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Analyze online course data collected through web scraping to understand overall quality and pricing trends.</a:t>
            </a:r>
            <a:endParaRPr sz="2200">
              <a:solidFill>
                <a:schemeClr val="dk1"/>
              </a:solidFill>
              <a:latin typeface="Times New Roman"/>
              <a:ea typeface="Times New Roman"/>
              <a:cs typeface="Times New Roman"/>
              <a:sym typeface="Times New Roman"/>
            </a:endParaRPr>
          </a:p>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Compare free and paid courses to evaluate differences in average ratings.</a:t>
            </a:r>
            <a:endParaRPr sz="2200">
              <a:solidFill>
                <a:schemeClr val="dk1"/>
              </a:solidFill>
              <a:latin typeface="Times New Roman"/>
              <a:ea typeface="Times New Roman"/>
              <a:cs typeface="Times New Roman"/>
              <a:sym typeface="Times New Roman"/>
            </a:endParaRPr>
          </a:p>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Study review distribution to understand learner engagement patterns.</a:t>
            </a:r>
            <a:endParaRPr sz="2200">
              <a:solidFill>
                <a:schemeClr val="dk1"/>
              </a:solidFill>
              <a:latin typeface="Times New Roman"/>
              <a:ea typeface="Times New Roman"/>
              <a:cs typeface="Times New Roman"/>
              <a:sym typeface="Times New Roman"/>
            </a:endParaRPr>
          </a:p>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Identify whether paid courses significantly outperform free courses in terms of ratings.</a:t>
            </a:r>
            <a:endParaRPr sz="2200">
              <a:solidFill>
                <a:schemeClr val="dk1"/>
              </a:solidFill>
              <a:latin typeface="Times New Roman"/>
              <a:ea typeface="Times New Roman"/>
              <a:cs typeface="Times New Roman"/>
              <a:sym typeface="Times New Roman"/>
            </a:endParaRPr>
          </a:p>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Analyze platform-wise rating trends to compare course quality across providers.</a:t>
            </a:r>
            <a:endParaRPr sz="2200">
              <a:solidFill>
                <a:schemeClr val="dk1"/>
              </a:solidFill>
              <a:latin typeface="Times New Roman"/>
              <a:ea typeface="Times New Roman"/>
              <a:cs typeface="Times New Roman"/>
              <a:sym typeface="Times New Roman"/>
            </a:endParaRPr>
          </a:p>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Examine the relationship between ratings and reviews to assess reliability of learner feedback.</a:t>
            </a:r>
            <a:endParaRPr sz="2200">
              <a:solidFill>
                <a:schemeClr val="dk1"/>
              </a:solidFill>
              <a:latin typeface="Times New Roman"/>
              <a:ea typeface="Times New Roman"/>
              <a:cs typeface="Times New Roman"/>
              <a:sym typeface="Times New Roman"/>
            </a:endParaRPr>
          </a:p>
          <a:p>
            <a:pPr indent="-368300" lvl="0" marL="457200" rtl="0" algn="just">
              <a:lnSpc>
                <a:spcPct val="150000"/>
              </a:lnSpc>
              <a:spcBef>
                <a:spcPts val="0"/>
              </a:spcBef>
              <a:spcAft>
                <a:spcPts val="0"/>
              </a:spcAft>
              <a:buClr>
                <a:schemeClr val="dk1"/>
              </a:buClr>
              <a:buSzPts val="2200"/>
              <a:buChar char="•"/>
            </a:pPr>
            <a:r>
              <a:rPr lang="en-US" sz="2200">
                <a:solidFill>
                  <a:schemeClr val="dk1"/>
                </a:solidFill>
                <a:latin typeface="Times New Roman"/>
                <a:ea typeface="Times New Roman"/>
                <a:cs typeface="Times New Roman"/>
                <a:sym typeface="Times New Roman"/>
              </a:rPr>
              <a:t>Provide data-driven insights to help learners make informed course selection decisions.</a:t>
            </a:r>
            <a:endParaRPr sz="2200">
              <a:solidFill>
                <a:schemeClr val="dk1"/>
              </a:solidFill>
              <a:latin typeface="Times New Roman"/>
              <a:ea typeface="Times New Roman"/>
              <a:cs typeface="Times New Roman"/>
              <a:sym typeface="Times New Roman"/>
            </a:endParaRPr>
          </a:p>
        </p:txBody>
      </p:sp>
      <p:pic>
        <p:nvPicPr>
          <p:cNvPr descr="Objective Images - Free Download on Freepik" id="144" name="Google Shape;144;p19"/>
          <p:cNvPicPr preferRelativeResize="0"/>
          <p:nvPr/>
        </p:nvPicPr>
        <p:blipFill rotWithShape="1">
          <a:blip r:embed="rId4">
            <a:alphaModFix/>
          </a:blip>
          <a:srcRect b="0" l="0" r="0" t="0"/>
          <a:stretch/>
        </p:blipFill>
        <p:spPr>
          <a:xfrm>
            <a:off x="11016018" y="40282"/>
            <a:ext cx="1105019" cy="110501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nvSpPr>
        <p:spPr>
          <a:xfrm>
            <a:off x="576327" y="282562"/>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Data Collection &amp; Merging</a:t>
            </a:r>
            <a:endParaRPr/>
          </a:p>
        </p:txBody>
      </p:sp>
      <p:pic>
        <p:nvPicPr>
          <p:cNvPr descr="A close up of a logo&#10;&#10;AI-generated content may be incorrect." id="151" name="Google Shape;151;p20"/>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52" name="Google Shape;152;p20"/>
          <p:cNvSpPr txBox="1"/>
          <p:nvPr/>
        </p:nvSpPr>
        <p:spPr>
          <a:xfrm>
            <a:off x="576326" y="861323"/>
            <a:ext cx="10575300" cy="5156400"/>
          </a:xfrm>
          <a:prstGeom prst="rect">
            <a:avLst/>
          </a:prstGeom>
          <a:noFill/>
          <a:ln>
            <a:noFill/>
          </a:ln>
        </p:spPr>
        <p:txBody>
          <a:bodyPr anchorCtr="0" anchor="t" bIns="45700" lIns="91425" spcFirstLastPara="1" rIns="91425" wrap="square" tIns="45700">
            <a:spAutoFit/>
          </a:bodyPr>
          <a:lstStyle/>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Course data was collected from an online learning platform(Class Learn) using web scraping techniques.</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Information such as course name, platform, rating, reviews, and pricing type was extracted.</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All extracted data was stored in a structured format using a consistent column structure.</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Pricing information was standardized into two categories: </a:t>
            </a:r>
            <a:r>
              <a:rPr b="1" lang="en-US" sz="2000">
                <a:solidFill>
                  <a:schemeClr val="dk1"/>
                </a:solidFill>
              </a:rPr>
              <a:t>Free</a:t>
            </a:r>
            <a:r>
              <a:rPr lang="en-US" sz="2000">
                <a:solidFill>
                  <a:schemeClr val="dk1"/>
                </a:solidFill>
              </a:rPr>
              <a:t> and </a:t>
            </a:r>
            <a:r>
              <a:rPr b="1" lang="en-US" sz="2000">
                <a:solidFill>
                  <a:schemeClr val="dk1"/>
                </a:solidFill>
              </a:rPr>
              <a:t>Paid</a:t>
            </a:r>
            <a:r>
              <a:rPr lang="en-US" sz="2000">
                <a:solidFill>
                  <a:schemeClr val="dk1"/>
                </a:solidFill>
              </a:rPr>
              <a:t>.</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Data cleaning was performed to handle missing values and inconsistent labels.</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The final consolidated dataset contained 405 courses ready for analysis.</a:t>
            </a:r>
            <a:endParaRPr sz="2000">
              <a:solidFill>
                <a:schemeClr val="dk1"/>
              </a:solidFill>
            </a:endParaRPr>
          </a:p>
          <a:p>
            <a:pPr indent="0" lvl="0" marL="457200" rtl="0" algn="l">
              <a:lnSpc>
                <a:spcPct val="115000"/>
              </a:lnSpc>
              <a:spcBef>
                <a:spcPts val="1200"/>
              </a:spcBef>
              <a:spcAft>
                <a:spcPts val="1200"/>
              </a:spcAft>
              <a:buNone/>
            </a:pPr>
            <a:r>
              <a:rPr lang="en-US" sz="2000">
                <a:solidFill>
                  <a:schemeClr val="dk1"/>
                </a:solidFill>
              </a:rPr>
              <a:t>DataSet : </a:t>
            </a:r>
            <a:r>
              <a:rPr lang="en-US" sz="2000" u="sng">
                <a:solidFill>
                  <a:schemeClr val="hlink"/>
                </a:solidFill>
                <a:hlinkClick r:id="rId4"/>
              </a:rPr>
              <a:t>Courses</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nvSpPr>
        <p:spPr>
          <a:xfrm>
            <a:off x="576327" y="282562"/>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Data Understanding</a:t>
            </a:r>
            <a:endParaRPr/>
          </a:p>
        </p:txBody>
      </p:sp>
      <p:pic>
        <p:nvPicPr>
          <p:cNvPr descr="A close up of a logo&#10;&#10;AI-generated content may be incorrect." id="159" name="Google Shape;159;p21"/>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60" name="Google Shape;160;p21"/>
          <p:cNvSpPr txBox="1"/>
          <p:nvPr/>
        </p:nvSpPr>
        <p:spPr>
          <a:xfrm>
            <a:off x="194550" y="943125"/>
            <a:ext cx="6962100" cy="3664200"/>
          </a:xfrm>
          <a:prstGeom prst="rect">
            <a:avLst/>
          </a:prstGeom>
          <a:noFill/>
          <a:ln>
            <a:noFill/>
          </a:ln>
        </p:spPr>
        <p:txBody>
          <a:bodyPr anchorCtr="0" anchor="t" bIns="45700" lIns="91425" spcFirstLastPara="1" rIns="91425" wrap="square" tIns="45700">
            <a:spAutoFit/>
          </a:bodyPr>
          <a:lstStyle/>
          <a:p>
            <a:pPr indent="-298450" lvl="0" marL="457200" rtl="0" algn="l">
              <a:lnSpc>
                <a:spcPct val="115000"/>
              </a:lnSpc>
              <a:spcBef>
                <a:spcPts val="120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The dataset contains 405 online courses.</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It includes Course Name, Platform, Rating, Reviews, and Course Type.</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Ratings and reviews are in numeric format.</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Course Type had different labels like “Paid Course”, “Free Trial Available”, and “Conference Talk”.</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No missing values were found in the dataset.</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Ratings range from 0 to 5.</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Review counts vary a lot, with some courses having very high reviews.</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The review data is right-skewed, meaning only a few courses have very high engagement.</a:t>
            </a:r>
            <a:endParaRPr sz="17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latin typeface="Times New Roman"/>
                <a:ea typeface="Times New Roman"/>
                <a:cs typeface="Times New Roman"/>
                <a:sym typeface="Times New Roman"/>
              </a:rPr>
              <a:t>Some cleaning was needed to make the pricing categories consistent before analysis.</a:t>
            </a:r>
            <a:endParaRPr sz="1700">
              <a:solidFill>
                <a:schemeClr val="dk1"/>
              </a:solidFill>
              <a:latin typeface="Times New Roman"/>
              <a:ea typeface="Times New Roman"/>
              <a:cs typeface="Times New Roman"/>
              <a:sym typeface="Times New Roman"/>
            </a:endParaRPr>
          </a:p>
        </p:txBody>
      </p:sp>
      <p:pic>
        <p:nvPicPr>
          <p:cNvPr id="161" name="Google Shape;161;p21"/>
          <p:cNvPicPr preferRelativeResize="0"/>
          <p:nvPr/>
        </p:nvPicPr>
        <p:blipFill>
          <a:blip r:embed="rId4">
            <a:alphaModFix/>
          </a:blip>
          <a:stretch>
            <a:fillRect/>
          </a:stretch>
        </p:blipFill>
        <p:spPr>
          <a:xfrm>
            <a:off x="8829675" y="1875175"/>
            <a:ext cx="3199775" cy="1649750"/>
          </a:xfrm>
          <a:prstGeom prst="rect">
            <a:avLst/>
          </a:prstGeom>
          <a:noFill/>
          <a:ln>
            <a:noFill/>
          </a:ln>
        </p:spPr>
      </p:pic>
      <p:pic>
        <p:nvPicPr>
          <p:cNvPr id="162" name="Google Shape;162;p21"/>
          <p:cNvPicPr preferRelativeResize="0"/>
          <p:nvPr/>
        </p:nvPicPr>
        <p:blipFill>
          <a:blip r:embed="rId5">
            <a:alphaModFix/>
          </a:blip>
          <a:stretch>
            <a:fillRect/>
          </a:stretch>
        </p:blipFill>
        <p:spPr>
          <a:xfrm>
            <a:off x="194550" y="4745700"/>
            <a:ext cx="8254625" cy="2112300"/>
          </a:xfrm>
          <a:prstGeom prst="rect">
            <a:avLst/>
          </a:prstGeom>
          <a:noFill/>
          <a:ln>
            <a:noFill/>
          </a:ln>
        </p:spPr>
      </p:pic>
      <p:pic>
        <p:nvPicPr>
          <p:cNvPr id="163" name="Google Shape;163;p21"/>
          <p:cNvPicPr preferRelativeResize="0"/>
          <p:nvPr/>
        </p:nvPicPr>
        <p:blipFill>
          <a:blip r:embed="rId6">
            <a:alphaModFix/>
          </a:blip>
          <a:stretch>
            <a:fillRect/>
          </a:stretch>
        </p:blipFill>
        <p:spPr>
          <a:xfrm>
            <a:off x="8829675" y="3576975"/>
            <a:ext cx="3199775" cy="2519300"/>
          </a:xfrm>
          <a:prstGeom prst="rect">
            <a:avLst/>
          </a:prstGeom>
          <a:noFill/>
          <a:ln>
            <a:noFill/>
          </a:ln>
        </p:spPr>
      </p:pic>
      <p:pic>
        <p:nvPicPr>
          <p:cNvPr id="164" name="Google Shape;164;p21"/>
          <p:cNvPicPr preferRelativeResize="0"/>
          <p:nvPr/>
        </p:nvPicPr>
        <p:blipFill>
          <a:blip r:embed="rId7">
            <a:alphaModFix/>
          </a:blip>
          <a:stretch>
            <a:fillRect/>
          </a:stretch>
        </p:blipFill>
        <p:spPr>
          <a:xfrm>
            <a:off x="8829675" y="282550"/>
            <a:ext cx="3199775" cy="1540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nvSpPr>
        <p:spPr>
          <a:xfrm>
            <a:off x="576326" y="125902"/>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Data Cleaning</a:t>
            </a:r>
            <a:endParaRPr/>
          </a:p>
        </p:txBody>
      </p:sp>
      <p:pic>
        <p:nvPicPr>
          <p:cNvPr descr="A close up of a logo&#10;&#10;AI-generated content may be incorrect." id="171" name="Google Shape;171;p22"/>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72" name="Google Shape;172;p22"/>
          <p:cNvSpPr txBox="1"/>
          <p:nvPr/>
        </p:nvSpPr>
        <p:spPr>
          <a:xfrm>
            <a:off x="576325" y="641695"/>
            <a:ext cx="11271000" cy="5733600"/>
          </a:xfrm>
          <a:prstGeom prst="rect">
            <a:avLst/>
          </a:prstGeom>
          <a:noFill/>
          <a:ln>
            <a:noFill/>
          </a:ln>
        </p:spPr>
        <p:txBody>
          <a:bodyPr anchorCtr="0" anchor="t" bIns="45700" lIns="91425" spcFirstLastPara="1" rIns="91425" wrap="square" tIns="45700">
            <a:spAutoFit/>
          </a:bodyPr>
          <a:lstStyle/>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The scraped course data had inconsistent pricing labels and mixed formats.</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Some course types were labeled differently, such as “Paid Course”, “Free Trial Available”, and “Conference Talk”.</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These labels were standardized into two clear categories: </a:t>
            </a:r>
            <a:r>
              <a:rPr b="1" lang="en-US" sz="1900">
                <a:solidFill>
                  <a:schemeClr val="dk1"/>
                </a:solidFill>
              </a:rPr>
              <a:t>Free</a:t>
            </a:r>
            <a:r>
              <a:rPr lang="en-US" sz="1900">
                <a:solidFill>
                  <a:schemeClr val="dk1"/>
                </a:solidFill>
              </a:rPr>
              <a:t> and </a:t>
            </a:r>
            <a:r>
              <a:rPr b="1" lang="en-US" sz="1900">
                <a:solidFill>
                  <a:schemeClr val="dk1"/>
                </a:solidFill>
              </a:rPr>
              <a:t>Paid</a:t>
            </a:r>
            <a:r>
              <a:rPr lang="en-US" sz="1900">
                <a:solidFill>
                  <a:schemeClr val="dk1"/>
                </a:solidFill>
              </a:rPr>
              <a:t>.</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Ratings were already in numeric format and ranged from 0 to 5.</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Review counts were numeric, but showed large variation.</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No missing values were found in the dataset.</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Column names were corrected for consistency (e.g., spelling fixes).</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The final cleaned dataset contained 405 courses ready for analysis.</a:t>
            </a:r>
            <a:endParaRPr sz="1900">
              <a:solidFill>
                <a:schemeClr val="dk1"/>
              </a:solidFill>
            </a:endParaRPr>
          </a:p>
          <a:p>
            <a:pPr indent="-393700" lvl="0" marL="457200" rtl="0" algn="just">
              <a:lnSpc>
                <a:spcPct val="150000"/>
              </a:lnSpc>
              <a:spcBef>
                <a:spcPts val="0"/>
              </a:spcBef>
              <a:spcAft>
                <a:spcPts val="0"/>
              </a:spcAft>
              <a:buClr>
                <a:schemeClr val="dk1"/>
              </a:buClr>
              <a:buSzPts val="2600"/>
              <a:buChar char="•"/>
            </a:pPr>
            <a:r>
              <a:rPr lang="en-US" sz="1900">
                <a:solidFill>
                  <a:schemeClr val="dk1"/>
                </a:solidFill>
              </a:rPr>
              <a:t>Cleaning ensured accurate comparison between Free and Paid courses.</a:t>
            </a:r>
            <a:endParaRPr sz="2200"/>
          </a:p>
        </p:txBody>
      </p:sp>
      <p:pic>
        <p:nvPicPr>
          <p:cNvPr id="173" name="Google Shape;173;p22"/>
          <p:cNvPicPr preferRelativeResize="0"/>
          <p:nvPr/>
        </p:nvPicPr>
        <p:blipFill>
          <a:blip r:embed="rId4">
            <a:alphaModFix/>
          </a:blip>
          <a:stretch>
            <a:fillRect/>
          </a:stretch>
        </p:blipFill>
        <p:spPr>
          <a:xfrm>
            <a:off x="9628500" y="3842275"/>
            <a:ext cx="1944875" cy="1962150"/>
          </a:xfrm>
          <a:prstGeom prst="rect">
            <a:avLst/>
          </a:prstGeom>
          <a:noFill/>
          <a:ln>
            <a:noFill/>
          </a:ln>
        </p:spPr>
      </p:pic>
      <p:pic>
        <p:nvPicPr>
          <p:cNvPr id="174" name="Google Shape;174;p22"/>
          <p:cNvPicPr preferRelativeResize="0"/>
          <p:nvPr/>
        </p:nvPicPr>
        <p:blipFill>
          <a:blip r:embed="rId5">
            <a:alphaModFix/>
          </a:blip>
          <a:stretch>
            <a:fillRect/>
          </a:stretch>
        </p:blipFill>
        <p:spPr>
          <a:xfrm>
            <a:off x="9628500" y="2026900"/>
            <a:ext cx="1944875" cy="1301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3"/>
          <p:cNvSpPr txBox="1"/>
          <p:nvPr/>
        </p:nvSpPr>
        <p:spPr>
          <a:xfrm>
            <a:off x="576327" y="282562"/>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Data Features</a:t>
            </a:r>
            <a:endParaRPr/>
          </a:p>
        </p:txBody>
      </p:sp>
      <p:pic>
        <p:nvPicPr>
          <p:cNvPr descr="A close up of a logo&#10;&#10;AI-generated content may be incorrect." id="181" name="Google Shape;181;p23"/>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182" name="Google Shape;182;p23"/>
          <p:cNvSpPr txBox="1"/>
          <p:nvPr/>
        </p:nvSpPr>
        <p:spPr>
          <a:xfrm>
            <a:off x="576327" y="1013218"/>
            <a:ext cx="7941600" cy="4924800"/>
          </a:xfrm>
          <a:prstGeom prst="rect">
            <a:avLst/>
          </a:prstGeom>
          <a:noFill/>
          <a:ln>
            <a:noFill/>
          </a:ln>
        </p:spPr>
        <p:txBody>
          <a:bodyPr anchorCtr="0" anchor="t" bIns="45700" lIns="91425" spcFirstLastPara="1" rIns="91425" wrap="square" tIns="45700">
            <a:spAutoFit/>
          </a:bodyPr>
          <a:lstStyle/>
          <a:p>
            <a:pPr indent="-374650" lvl="0" marL="457200" rtl="0" algn="l">
              <a:lnSpc>
                <a:spcPct val="115000"/>
              </a:lnSpc>
              <a:spcBef>
                <a:spcPts val="1200"/>
              </a:spcBef>
              <a:spcAft>
                <a:spcPts val="0"/>
              </a:spcAft>
              <a:buClr>
                <a:schemeClr val="dk1"/>
              </a:buClr>
              <a:buSzPts val="2300"/>
              <a:buChar char="●"/>
            </a:pPr>
            <a:r>
              <a:rPr b="1" lang="en-US" sz="2300">
                <a:solidFill>
                  <a:schemeClr val="dk1"/>
                </a:solidFill>
              </a:rPr>
              <a:t>Course Name</a:t>
            </a:r>
            <a:r>
              <a:rPr lang="en-US" sz="2300">
                <a:solidFill>
                  <a:schemeClr val="dk1"/>
                </a:solidFill>
              </a:rPr>
              <a:t> – Title of the online course</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rPr>
              <a:t>Platform</a:t>
            </a:r>
            <a:r>
              <a:rPr lang="en-US" sz="2300">
                <a:solidFill>
                  <a:schemeClr val="dk1"/>
                </a:solidFill>
              </a:rPr>
              <a:t> – Platform offering the course (e.g., Coursera, Udemy)</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rPr>
              <a:t>Rating</a:t>
            </a:r>
            <a:r>
              <a:rPr lang="en-US" sz="2300">
                <a:solidFill>
                  <a:schemeClr val="dk1"/>
                </a:solidFill>
              </a:rPr>
              <a:t> – Average user rating of the course (0 to 5 scale)</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rPr>
              <a:t>Reviews</a:t>
            </a:r>
            <a:r>
              <a:rPr lang="en-US" sz="2300">
                <a:solidFill>
                  <a:schemeClr val="dk1"/>
                </a:solidFill>
              </a:rPr>
              <a:t> – Total number of user reviews for the course</a:t>
            </a:r>
            <a:br>
              <a:rPr lang="en-US" sz="2300">
                <a:solidFill>
                  <a:schemeClr val="dk1"/>
                </a:solidFill>
              </a:rPr>
            </a:br>
            <a:endParaRPr sz="2300">
              <a:solidFill>
                <a:schemeClr val="dk1"/>
              </a:solidFill>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rPr>
              <a:t>Course Type</a:t>
            </a:r>
            <a:r>
              <a:rPr lang="en-US" sz="2300">
                <a:solidFill>
                  <a:schemeClr val="dk1"/>
                </a:solidFill>
              </a:rPr>
              <a:t> – Pricing category of the course (Free or Paid)</a:t>
            </a:r>
            <a:endParaRPr b="1" sz="30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24"/>
          <p:cNvSpPr txBox="1"/>
          <p:nvPr/>
        </p:nvSpPr>
        <p:spPr>
          <a:xfrm>
            <a:off x="604724"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Univariate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189" name="Google Shape;189;p24"/>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grpSp>
        <p:nvGrpSpPr>
          <p:cNvPr id="190" name="Google Shape;190;p24"/>
          <p:cNvGrpSpPr/>
          <p:nvPr/>
        </p:nvGrpSpPr>
        <p:grpSpPr>
          <a:xfrm>
            <a:off x="604724" y="881160"/>
            <a:ext cx="10711896" cy="509696"/>
            <a:chOff x="1518201" y="1277786"/>
            <a:chExt cx="10711896" cy="587794"/>
          </a:xfrm>
        </p:grpSpPr>
        <p:sp>
          <p:nvSpPr>
            <p:cNvPr id="191" name="Google Shape;191;p24"/>
            <p:cNvSpPr txBox="1"/>
            <p:nvPr/>
          </p:nvSpPr>
          <p:spPr>
            <a:xfrm>
              <a:off x="1518201" y="1333176"/>
              <a:ext cx="4403033" cy="5324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Rating Distribution</a:t>
              </a:r>
              <a:endParaRPr/>
            </a:p>
          </p:txBody>
        </p:sp>
        <p:sp>
          <p:nvSpPr>
            <p:cNvPr id="192" name="Google Shape;192;p24"/>
            <p:cNvSpPr txBox="1"/>
            <p:nvPr/>
          </p:nvSpPr>
          <p:spPr>
            <a:xfrm>
              <a:off x="7827064" y="1277786"/>
              <a:ext cx="4403033" cy="5324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Review Distribution</a:t>
              </a:r>
              <a:endParaRPr/>
            </a:p>
          </p:txBody>
        </p:sp>
      </p:grpSp>
      <p:sp>
        <p:nvSpPr>
          <p:cNvPr id="193" name="Google Shape;193;p24"/>
          <p:cNvSpPr txBox="1"/>
          <p:nvPr/>
        </p:nvSpPr>
        <p:spPr>
          <a:xfrm>
            <a:off x="146189" y="4998195"/>
            <a:ext cx="5664300" cy="1446900"/>
          </a:xfrm>
          <a:prstGeom prst="rect">
            <a:avLst/>
          </a:prstGeom>
          <a:noFill/>
          <a:ln>
            <a:noFill/>
          </a:ln>
        </p:spPr>
        <p:txBody>
          <a:bodyPr anchorCtr="0" anchor="t" bIns="45700" lIns="91425" spcFirstLastPara="1" rIns="91425" wrap="square" tIns="45700">
            <a:spAutoFit/>
          </a:bodyPr>
          <a:lstStyle/>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Ratings range from 0 to 5</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Most courses are rated between 4 and 5.</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Median rating is 4.0</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Distribution shows concentration at higher ratings.</a:t>
            </a:r>
            <a:endParaRPr sz="1600">
              <a:solidFill>
                <a:schemeClr val="dk1"/>
              </a:solidFill>
              <a:latin typeface="Times New Roman"/>
              <a:ea typeface="Times New Roman"/>
              <a:cs typeface="Times New Roman"/>
              <a:sym typeface="Times New Roman"/>
            </a:endParaRPr>
          </a:p>
        </p:txBody>
      </p:sp>
      <p:sp>
        <p:nvSpPr>
          <p:cNvPr id="194" name="Google Shape;194;p24"/>
          <p:cNvSpPr txBox="1"/>
          <p:nvPr/>
        </p:nvSpPr>
        <p:spPr>
          <a:xfrm>
            <a:off x="6381425" y="4998200"/>
            <a:ext cx="5467500" cy="1816200"/>
          </a:xfrm>
          <a:prstGeom prst="rect">
            <a:avLst/>
          </a:prstGeom>
          <a:noFill/>
          <a:ln>
            <a:noFill/>
          </a:ln>
        </p:spPr>
        <p:txBody>
          <a:bodyPr anchorCtr="0" anchor="t" bIns="45700" lIns="91425" spcFirstLastPara="1" rIns="91425" wrap="square" tIns="45700">
            <a:spAutoFit/>
          </a:bodyPr>
          <a:lstStyle/>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Review counts are highly right-skewed</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Most courses have very few reviews.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A small number of courses have extremely high engagement</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Maximum reviews: 77,385.</a:t>
            </a:r>
            <a:endParaRPr sz="1600">
              <a:solidFill>
                <a:schemeClr val="dk1"/>
              </a:solidFill>
              <a:latin typeface="Times New Roman"/>
              <a:ea typeface="Times New Roman"/>
              <a:cs typeface="Times New Roman"/>
              <a:sym typeface="Times New Roman"/>
            </a:endParaRPr>
          </a:p>
        </p:txBody>
      </p:sp>
      <p:pic>
        <p:nvPicPr>
          <p:cNvPr id="195" name="Google Shape;195;p24"/>
          <p:cNvPicPr preferRelativeResize="0"/>
          <p:nvPr/>
        </p:nvPicPr>
        <p:blipFill>
          <a:blip r:embed="rId4">
            <a:alphaModFix/>
          </a:blip>
          <a:stretch>
            <a:fillRect/>
          </a:stretch>
        </p:blipFill>
        <p:spPr>
          <a:xfrm>
            <a:off x="343000" y="1572137"/>
            <a:ext cx="5467500" cy="3270762"/>
          </a:xfrm>
          <a:prstGeom prst="rect">
            <a:avLst/>
          </a:prstGeom>
          <a:noFill/>
          <a:ln>
            <a:noFill/>
          </a:ln>
        </p:spPr>
      </p:pic>
      <p:pic>
        <p:nvPicPr>
          <p:cNvPr id="196" name="Google Shape;196;p24"/>
          <p:cNvPicPr preferRelativeResize="0"/>
          <p:nvPr/>
        </p:nvPicPr>
        <p:blipFill>
          <a:blip r:embed="rId5">
            <a:alphaModFix/>
          </a:blip>
          <a:stretch>
            <a:fillRect/>
          </a:stretch>
        </p:blipFill>
        <p:spPr>
          <a:xfrm>
            <a:off x="6573125" y="1572125"/>
            <a:ext cx="5275800" cy="3270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p25"/>
          <p:cNvSpPr txBox="1"/>
          <p:nvPr/>
        </p:nvSpPr>
        <p:spPr>
          <a:xfrm>
            <a:off x="604724"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Univariate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03" name="Google Shape;203;p25"/>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grpSp>
        <p:nvGrpSpPr>
          <p:cNvPr id="204" name="Google Shape;204;p25"/>
          <p:cNvGrpSpPr/>
          <p:nvPr/>
        </p:nvGrpSpPr>
        <p:grpSpPr>
          <a:xfrm>
            <a:off x="766225" y="893374"/>
            <a:ext cx="11046549" cy="450974"/>
            <a:chOff x="805059" y="1280946"/>
            <a:chExt cx="11046549" cy="474981"/>
          </a:xfrm>
        </p:grpSpPr>
        <p:sp>
          <p:nvSpPr>
            <p:cNvPr id="205" name="Google Shape;205;p25"/>
            <p:cNvSpPr txBox="1"/>
            <p:nvPr/>
          </p:nvSpPr>
          <p:spPr>
            <a:xfrm>
              <a:off x="805059" y="1302027"/>
              <a:ext cx="5786100" cy="453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400"/>
                </a:spcAft>
                <a:buSzPts val="1100"/>
                <a:buNone/>
              </a:pPr>
              <a:r>
                <a:rPr b="1" lang="en-US" sz="2200">
                  <a:solidFill>
                    <a:schemeClr val="dk1"/>
                  </a:solidFill>
                </a:rPr>
                <a:t>Course Type Distribution</a:t>
              </a:r>
              <a:endParaRPr sz="1900"/>
            </a:p>
          </p:txBody>
        </p:sp>
        <p:sp>
          <p:nvSpPr>
            <p:cNvPr id="206" name="Google Shape;206;p25"/>
            <p:cNvSpPr txBox="1"/>
            <p:nvPr/>
          </p:nvSpPr>
          <p:spPr>
            <a:xfrm>
              <a:off x="8488008" y="1280946"/>
              <a:ext cx="3363600" cy="32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grpSp>
      <p:sp>
        <p:nvSpPr>
          <p:cNvPr id="207" name="Google Shape;207;p25"/>
          <p:cNvSpPr txBox="1"/>
          <p:nvPr/>
        </p:nvSpPr>
        <p:spPr>
          <a:xfrm>
            <a:off x="604724" y="5399249"/>
            <a:ext cx="60978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t/>
            </a:r>
            <a:endParaRPr/>
          </a:p>
        </p:txBody>
      </p:sp>
      <p:sp>
        <p:nvSpPr>
          <p:cNvPr id="208" name="Google Shape;208;p25"/>
          <p:cNvSpPr txBox="1"/>
          <p:nvPr/>
        </p:nvSpPr>
        <p:spPr>
          <a:xfrm>
            <a:off x="7740425" y="2408338"/>
            <a:ext cx="3793800" cy="19548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Paid courses: 234</a:t>
            </a:r>
            <a:endParaRPr sz="2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Free courses: 171</a:t>
            </a:r>
            <a:endParaRPr sz="2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Dataset is fairly balanced for comparison.</a:t>
            </a:r>
            <a:endParaRPr sz="2200">
              <a:solidFill>
                <a:schemeClr val="dk1"/>
              </a:solidFill>
              <a:latin typeface="Times New Roman"/>
              <a:ea typeface="Times New Roman"/>
              <a:cs typeface="Times New Roman"/>
              <a:sym typeface="Times New Roman"/>
            </a:endParaRPr>
          </a:p>
        </p:txBody>
      </p:sp>
      <p:pic>
        <p:nvPicPr>
          <p:cNvPr id="209" name="Google Shape;209;p25"/>
          <p:cNvPicPr preferRelativeResize="0"/>
          <p:nvPr/>
        </p:nvPicPr>
        <p:blipFill>
          <a:blip r:embed="rId4">
            <a:alphaModFix/>
          </a:blip>
          <a:stretch>
            <a:fillRect/>
          </a:stretch>
        </p:blipFill>
        <p:spPr>
          <a:xfrm>
            <a:off x="141825" y="1344351"/>
            <a:ext cx="7026494" cy="4916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26"/>
          <p:cNvSpPr txBox="1"/>
          <p:nvPr/>
        </p:nvSpPr>
        <p:spPr>
          <a:xfrm>
            <a:off x="604724"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Univariate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16" name="Google Shape;216;p26"/>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grpSp>
        <p:nvGrpSpPr>
          <p:cNvPr id="217" name="Google Shape;217;p26"/>
          <p:cNvGrpSpPr/>
          <p:nvPr/>
        </p:nvGrpSpPr>
        <p:grpSpPr>
          <a:xfrm>
            <a:off x="766236" y="914457"/>
            <a:ext cx="11007651" cy="400110"/>
            <a:chOff x="805070" y="1302026"/>
            <a:chExt cx="11007651" cy="440070"/>
          </a:xfrm>
        </p:grpSpPr>
        <p:sp>
          <p:nvSpPr>
            <p:cNvPr id="218" name="Google Shape;218;p26"/>
            <p:cNvSpPr txBox="1"/>
            <p:nvPr/>
          </p:nvSpPr>
          <p:spPr>
            <a:xfrm>
              <a:off x="805070" y="1302026"/>
              <a:ext cx="4640651" cy="4400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Platform-wise Course Distribution</a:t>
              </a:r>
              <a:endParaRPr/>
            </a:p>
          </p:txBody>
        </p:sp>
        <p:sp>
          <p:nvSpPr>
            <p:cNvPr id="219" name="Google Shape;219;p26"/>
            <p:cNvSpPr txBox="1"/>
            <p:nvPr/>
          </p:nvSpPr>
          <p:spPr>
            <a:xfrm>
              <a:off x="7409621" y="1302026"/>
              <a:ext cx="4403100" cy="33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grpSp>
      <p:sp>
        <p:nvSpPr>
          <p:cNvPr id="220" name="Google Shape;220;p26"/>
          <p:cNvSpPr txBox="1"/>
          <p:nvPr/>
        </p:nvSpPr>
        <p:spPr>
          <a:xfrm>
            <a:off x="7823825" y="1994175"/>
            <a:ext cx="4231500" cy="1816200"/>
          </a:xfrm>
          <a:prstGeom prst="rect">
            <a:avLst/>
          </a:prstGeom>
          <a:noFill/>
          <a:ln>
            <a:noFill/>
          </a:ln>
        </p:spPr>
        <p:txBody>
          <a:bodyPr anchorCtr="0" anchor="t" bIns="45700" lIns="91425" spcFirstLastPara="1" rIns="91425" wrap="square" tIns="45700">
            <a:spAutoFit/>
          </a:bodyPr>
          <a:lstStyle/>
          <a:p>
            <a:pPr indent="-330200" lvl="0" marL="457200" rtl="0" algn="just">
              <a:lnSpc>
                <a:spcPct val="15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Some platforms host more courses than others.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Platform distribution helps understand content concentration.</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These are Top 10 Platforms</a:t>
            </a:r>
            <a:endParaRPr sz="1600">
              <a:solidFill>
                <a:schemeClr val="dk1"/>
              </a:solidFill>
              <a:latin typeface="Times New Roman"/>
              <a:ea typeface="Times New Roman"/>
              <a:cs typeface="Times New Roman"/>
              <a:sym typeface="Times New Roman"/>
            </a:endParaRPr>
          </a:p>
        </p:txBody>
      </p:sp>
      <p:sp>
        <p:nvSpPr>
          <p:cNvPr id="221" name="Google Shape;221;p26"/>
          <p:cNvSpPr txBox="1"/>
          <p:nvPr/>
        </p:nvSpPr>
        <p:spPr>
          <a:xfrm>
            <a:off x="6284843" y="5173775"/>
            <a:ext cx="53025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t/>
            </a:r>
            <a:endParaRPr/>
          </a:p>
        </p:txBody>
      </p:sp>
      <p:pic>
        <p:nvPicPr>
          <p:cNvPr id="222" name="Google Shape;222;p26"/>
          <p:cNvPicPr preferRelativeResize="0"/>
          <p:nvPr/>
        </p:nvPicPr>
        <p:blipFill>
          <a:blip r:embed="rId4">
            <a:alphaModFix/>
          </a:blip>
          <a:stretch>
            <a:fillRect/>
          </a:stretch>
        </p:blipFill>
        <p:spPr>
          <a:xfrm>
            <a:off x="766227" y="1383874"/>
            <a:ext cx="6889824" cy="5154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27"/>
          <p:cNvSpPr txBox="1"/>
          <p:nvPr/>
        </p:nvSpPr>
        <p:spPr>
          <a:xfrm>
            <a:off x="604724"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Bivariate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29" name="Google Shape;229;p27"/>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sp>
        <p:nvSpPr>
          <p:cNvPr id="230" name="Google Shape;230;p27"/>
          <p:cNvSpPr txBox="1"/>
          <p:nvPr/>
        </p:nvSpPr>
        <p:spPr>
          <a:xfrm>
            <a:off x="604724" y="1023787"/>
            <a:ext cx="7932900" cy="430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rPr b="1" lang="en-US" sz="2200">
                <a:solidFill>
                  <a:schemeClr val="dk1"/>
                </a:solidFill>
              </a:rPr>
              <a:t>Relationship Between Course Rating and Reviews</a:t>
            </a:r>
            <a:endParaRPr b="1" sz="3500">
              <a:solidFill>
                <a:schemeClr val="dk1"/>
              </a:solidFill>
              <a:latin typeface="Times New Roman"/>
              <a:ea typeface="Times New Roman"/>
              <a:cs typeface="Times New Roman"/>
              <a:sym typeface="Times New Roman"/>
            </a:endParaRPr>
          </a:p>
        </p:txBody>
      </p:sp>
      <p:sp>
        <p:nvSpPr>
          <p:cNvPr id="231" name="Google Shape;231;p27"/>
          <p:cNvSpPr txBox="1"/>
          <p:nvPr/>
        </p:nvSpPr>
        <p:spPr>
          <a:xfrm>
            <a:off x="7705142" y="1907786"/>
            <a:ext cx="4132500" cy="4109700"/>
          </a:xfrm>
          <a:prstGeom prst="rect">
            <a:avLst/>
          </a:prstGeom>
          <a:noFill/>
          <a:ln>
            <a:noFill/>
          </a:ln>
        </p:spPr>
        <p:txBody>
          <a:bodyPr anchorCtr="0" anchor="t" bIns="45700" lIns="91425" spcFirstLastPara="1" rIns="91425" wrap="square" tIns="45700">
            <a:spAutoFit/>
          </a:bodyPr>
          <a:lstStyle/>
          <a:p>
            <a:pPr indent="-342900" lvl="0" marL="457200" rtl="0" algn="just">
              <a:lnSpc>
                <a:spcPct val="15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Most courses with high review counts have ratings above 4.0.</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Courses with low ratings generally have fewer reviews.</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Review distribution is highly skewed, with a few courses having extremely high engagement.</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There appears to be a positive relationship between rating and number of reviews.</a:t>
            </a:r>
            <a:endParaRPr sz="1800">
              <a:solidFill>
                <a:schemeClr val="dk1"/>
              </a:solidFill>
              <a:latin typeface="Times New Roman"/>
              <a:ea typeface="Times New Roman"/>
              <a:cs typeface="Times New Roman"/>
              <a:sym typeface="Times New Roman"/>
            </a:endParaRPr>
          </a:p>
        </p:txBody>
      </p:sp>
      <p:pic>
        <p:nvPicPr>
          <p:cNvPr id="232" name="Google Shape;232;p27"/>
          <p:cNvPicPr preferRelativeResize="0"/>
          <p:nvPr/>
        </p:nvPicPr>
        <p:blipFill>
          <a:blip r:embed="rId4">
            <a:alphaModFix/>
          </a:blip>
          <a:stretch>
            <a:fillRect/>
          </a:stretch>
        </p:blipFill>
        <p:spPr>
          <a:xfrm>
            <a:off x="298775" y="1606975"/>
            <a:ext cx="7295751" cy="4653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7" name="Shape 237"/>
        <p:cNvGrpSpPr/>
        <p:nvPr/>
      </p:nvGrpSpPr>
      <p:grpSpPr>
        <a:xfrm>
          <a:off x="0" y="0"/>
          <a:ext cx="0" cy="0"/>
          <a:chOff x="0" y="0"/>
          <a:chExt cx="0" cy="0"/>
        </a:xfrm>
      </p:grpSpPr>
      <p:sp>
        <p:nvSpPr>
          <p:cNvPr id="238" name="Google Shape;238;p28"/>
          <p:cNvSpPr txBox="1"/>
          <p:nvPr/>
        </p:nvSpPr>
        <p:spPr>
          <a:xfrm>
            <a:off x="604724"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Bivariate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39" name="Google Shape;239;p28"/>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sp>
        <p:nvSpPr>
          <p:cNvPr id="240" name="Google Shape;240;p28"/>
          <p:cNvSpPr txBox="1"/>
          <p:nvPr/>
        </p:nvSpPr>
        <p:spPr>
          <a:xfrm>
            <a:off x="604724" y="1023787"/>
            <a:ext cx="11690100" cy="446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rPr b="1" lang="en-US" sz="2300">
                <a:solidFill>
                  <a:schemeClr val="dk1"/>
                </a:solidFill>
              </a:rPr>
              <a:t>Average Rating: Free vs Paid Courses</a:t>
            </a:r>
            <a:endParaRPr b="1" sz="3600">
              <a:solidFill>
                <a:schemeClr val="dk1"/>
              </a:solidFill>
              <a:latin typeface="Times New Roman"/>
              <a:ea typeface="Times New Roman"/>
              <a:cs typeface="Times New Roman"/>
              <a:sym typeface="Times New Roman"/>
            </a:endParaRPr>
          </a:p>
        </p:txBody>
      </p:sp>
      <p:sp>
        <p:nvSpPr>
          <p:cNvPr id="241" name="Google Shape;241;p28"/>
          <p:cNvSpPr txBox="1"/>
          <p:nvPr/>
        </p:nvSpPr>
        <p:spPr>
          <a:xfrm>
            <a:off x="7865500" y="1889950"/>
            <a:ext cx="3902400" cy="3786600"/>
          </a:xfrm>
          <a:prstGeom prst="rect">
            <a:avLst/>
          </a:prstGeom>
          <a:noFill/>
          <a:ln>
            <a:noFill/>
          </a:ln>
        </p:spPr>
        <p:txBody>
          <a:bodyPr anchorCtr="0" anchor="t" bIns="45700" lIns="91425" spcFirstLastPara="1" rIns="91425" wrap="square" tIns="45700">
            <a:spAutoFit/>
          </a:bodyPr>
          <a:lstStyle/>
          <a:p>
            <a:pPr indent="0" lvl="0" marL="0" rtl="0" algn="just">
              <a:lnSpc>
                <a:spcPct val="2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Free → 1.64</a:t>
            </a:r>
            <a:endParaRPr sz="1600">
              <a:solidFill>
                <a:schemeClr val="dk1"/>
              </a:solidFill>
              <a:latin typeface="Times New Roman"/>
              <a:ea typeface="Times New Roman"/>
              <a:cs typeface="Times New Roman"/>
              <a:sym typeface="Times New Roman"/>
            </a:endParaRPr>
          </a:p>
          <a:p>
            <a:pPr indent="0" lvl="0" marL="0" rtl="0" algn="just">
              <a:lnSpc>
                <a:spcPct val="200000"/>
              </a:lnSpc>
              <a:spcBef>
                <a:spcPts val="0"/>
              </a:spcBef>
              <a:spcAft>
                <a:spcPts val="0"/>
              </a:spcAft>
              <a:buSzPts val="1100"/>
              <a:buNone/>
            </a:pPr>
            <a:r>
              <a:rPr lang="en-US" sz="1600">
                <a:solidFill>
                  <a:schemeClr val="dk1"/>
                </a:solidFill>
                <a:latin typeface="Times New Roman"/>
                <a:ea typeface="Times New Roman"/>
                <a:cs typeface="Times New Roman"/>
                <a:sym typeface="Times New Roman"/>
              </a:rPr>
              <a:t>Paid → 2.89</a:t>
            </a:r>
            <a:endParaRPr sz="1600">
              <a:solidFill>
                <a:schemeClr val="dk1"/>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Paid courses have a higher average rating compared to free courses.</a:t>
            </a:r>
            <a:endParaRPr sz="1600">
              <a:solidFill>
                <a:schemeClr val="dk1"/>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Free courses show lower average ratings overall.</a:t>
            </a:r>
            <a:endParaRPr sz="1600">
              <a:solidFill>
                <a:schemeClr val="dk1"/>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a:t>
            </a:r>
            <a:r>
              <a:rPr lang="en-US" sz="1600">
                <a:solidFill>
                  <a:schemeClr val="dk1"/>
                </a:solidFill>
                <a:latin typeface="Times New Roman"/>
                <a:ea typeface="Times New Roman"/>
                <a:cs typeface="Times New Roman"/>
                <a:sym typeface="Times New Roman"/>
              </a:rPr>
              <a:t>his suggests learners may perceive paid courses as higher quality.</a:t>
            </a:r>
            <a:endParaRPr sz="1600">
              <a:solidFill>
                <a:schemeClr val="dk1"/>
              </a:solidFill>
              <a:latin typeface="Times New Roman"/>
              <a:ea typeface="Times New Roman"/>
              <a:cs typeface="Times New Roman"/>
              <a:sym typeface="Times New Roman"/>
            </a:endParaRPr>
          </a:p>
        </p:txBody>
      </p:sp>
      <p:pic>
        <p:nvPicPr>
          <p:cNvPr id="242" name="Google Shape;242;p28"/>
          <p:cNvPicPr preferRelativeResize="0"/>
          <p:nvPr/>
        </p:nvPicPr>
        <p:blipFill>
          <a:blip r:embed="rId4">
            <a:alphaModFix/>
          </a:blip>
          <a:stretch>
            <a:fillRect/>
          </a:stretch>
        </p:blipFill>
        <p:spPr>
          <a:xfrm>
            <a:off x="604725" y="1600575"/>
            <a:ext cx="6593750" cy="5007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29"/>
          <p:cNvSpPr txBox="1"/>
          <p:nvPr/>
        </p:nvSpPr>
        <p:spPr>
          <a:xfrm>
            <a:off x="604724"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Bivariate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49" name="Google Shape;249;p29"/>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sp>
        <p:nvSpPr>
          <p:cNvPr id="250" name="Google Shape;250;p29"/>
          <p:cNvSpPr txBox="1"/>
          <p:nvPr/>
        </p:nvSpPr>
        <p:spPr>
          <a:xfrm>
            <a:off x="604724" y="1023787"/>
            <a:ext cx="106364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Average Rating by Platform </a:t>
            </a:r>
            <a:endParaRPr/>
          </a:p>
        </p:txBody>
      </p:sp>
      <p:sp>
        <p:nvSpPr>
          <p:cNvPr id="251" name="Google Shape;251;p29"/>
          <p:cNvSpPr txBox="1"/>
          <p:nvPr/>
        </p:nvSpPr>
        <p:spPr>
          <a:xfrm>
            <a:off x="7713150" y="618400"/>
            <a:ext cx="4132500" cy="4771500"/>
          </a:xfrm>
          <a:prstGeom prst="rect">
            <a:avLst/>
          </a:prstGeom>
          <a:noFill/>
          <a:ln>
            <a:noFill/>
          </a:ln>
        </p:spPr>
        <p:txBody>
          <a:bodyPr anchorCtr="0" anchor="t" bIns="45700" lIns="91425" spcFirstLastPara="1" rIns="91425" wrap="square" tIns="45700">
            <a:spAutoFit/>
          </a:bodyPr>
          <a:lstStyle/>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Bar chart compares average ratings across different learning platforms.</a:t>
            </a:r>
            <a:endParaRPr sz="1600">
              <a:solidFill>
                <a:schemeClr val="dk1"/>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Ratings vary across platforms, indicating differences in course quality or learner perception.</a:t>
            </a:r>
            <a:endParaRPr sz="1600">
              <a:solidFill>
                <a:schemeClr val="dk1"/>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Some platforms show consistently higher average ratings.</a:t>
            </a:r>
            <a:endParaRPr sz="1600">
              <a:solidFill>
                <a:schemeClr val="dk1"/>
              </a:solidFill>
              <a:latin typeface="Times New Roman"/>
              <a:ea typeface="Times New Roman"/>
              <a:cs typeface="Times New Roman"/>
              <a:sym typeface="Times New Roman"/>
            </a:endParaRPr>
          </a:p>
          <a:p>
            <a:pPr indent="-330200" lvl="0" marL="457200" rtl="0" algn="just">
              <a:lnSpc>
                <a:spcPct val="2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Lower average ratings on certain platforms may indicate variability in course quality.</a:t>
            </a:r>
            <a:endParaRPr sz="1600">
              <a:solidFill>
                <a:schemeClr val="dk1"/>
              </a:solidFill>
              <a:latin typeface="Times New Roman"/>
              <a:ea typeface="Times New Roman"/>
              <a:cs typeface="Times New Roman"/>
              <a:sym typeface="Times New Roman"/>
            </a:endParaRPr>
          </a:p>
        </p:txBody>
      </p:sp>
      <p:pic>
        <p:nvPicPr>
          <p:cNvPr id="252" name="Google Shape;252;p29"/>
          <p:cNvPicPr preferRelativeResize="0"/>
          <p:nvPr/>
        </p:nvPicPr>
        <p:blipFill>
          <a:blip r:embed="rId4">
            <a:alphaModFix/>
          </a:blip>
          <a:stretch>
            <a:fillRect/>
          </a:stretch>
        </p:blipFill>
        <p:spPr>
          <a:xfrm>
            <a:off x="444700" y="1637850"/>
            <a:ext cx="6461951" cy="48171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30"/>
          <p:cNvSpPr txBox="1"/>
          <p:nvPr/>
        </p:nvSpPr>
        <p:spPr>
          <a:xfrm>
            <a:off x="424070"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Multivariate Analysis</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59" name="Google Shape;259;p30"/>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sp>
        <p:nvSpPr>
          <p:cNvPr id="260" name="Google Shape;260;p30"/>
          <p:cNvSpPr txBox="1"/>
          <p:nvPr/>
        </p:nvSpPr>
        <p:spPr>
          <a:xfrm>
            <a:off x="424070" y="1023787"/>
            <a:ext cx="11690100" cy="461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rPr b="1" lang="en-US" sz="2400">
                <a:solidFill>
                  <a:schemeClr val="dk1"/>
                </a:solidFill>
                <a:latin typeface="Times New Roman"/>
                <a:ea typeface="Times New Roman"/>
                <a:cs typeface="Times New Roman"/>
                <a:sym typeface="Times New Roman"/>
              </a:rPr>
              <a:t>Reviews vs Rating by Course Type</a:t>
            </a:r>
            <a:endParaRPr b="1" sz="2400">
              <a:solidFill>
                <a:schemeClr val="dk1"/>
              </a:solidFill>
              <a:latin typeface="Times New Roman"/>
              <a:ea typeface="Times New Roman"/>
              <a:cs typeface="Times New Roman"/>
              <a:sym typeface="Times New Roman"/>
            </a:endParaRPr>
          </a:p>
        </p:txBody>
      </p:sp>
      <p:sp>
        <p:nvSpPr>
          <p:cNvPr id="261" name="Google Shape;261;p30"/>
          <p:cNvSpPr txBox="1"/>
          <p:nvPr/>
        </p:nvSpPr>
        <p:spPr>
          <a:xfrm>
            <a:off x="7252594" y="2017116"/>
            <a:ext cx="4659000" cy="4032900"/>
          </a:xfrm>
          <a:prstGeom prst="rect">
            <a:avLst/>
          </a:prstGeom>
          <a:noFill/>
          <a:ln>
            <a:noFill/>
          </a:ln>
        </p:spPr>
        <p:txBody>
          <a:bodyPr anchorCtr="0" anchor="t" bIns="45700" lIns="91425" spcFirstLastPara="1" rIns="91425" wrap="square" tIns="45700">
            <a:spAutoFit/>
          </a:bodyPr>
          <a:lstStyle/>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Scatter plot analyzes relationship between reviews, ratings, and course type.</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Paid courses dominate higher review ranges.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High-rated courses generally receive more reviews.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Free courses are concentrated in lower review ranges.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Positive association observed between rating and engagement.</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Review distribution is highly skewed, indicating a few highly popular courses</a:t>
            </a:r>
            <a:endParaRPr sz="1600">
              <a:solidFill>
                <a:schemeClr val="dk1"/>
              </a:solidFill>
              <a:latin typeface="Times New Roman"/>
              <a:ea typeface="Times New Roman"/>
              <a:cs typeface="Times New Roman"/>
              <a:sym typeface="Times New Roman"/>
            </a:endParaRPr>
          </a:p>
        </p:txBody>
      </p:sp>
      <p:pic>
        <p:nvPicPr>
          <p:cNvPr id="262" name="Google Shape;262;p30"/>
          <p:cNvPicPr preferRelativeResize="0"/>
          <p:nvPr/>
        </p:nvPicPr>
        <p:blipFill>
          <a:blip r:embed="rId4">
            <a:alphaModFix/>
          </a:blip>
          <a:stretch>
            <a:fillRect/>
          </a:stretch>
        </p:blipFill>
        <p:spPr>
          <a:xfrm>
            <a:off x="590125" y="1615852"/>
            <a:ext cx="5989157" cy="50677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 name="Shape 267"/>
        <p:cNvGrpSpPr/>
        <p:nvPr/>
      </p:nvGrpSpPr>
      <p:grpSpPr>
        <a:xfrm>
          <a:off x="0" y="0"/>
          <a:ext cx="0" cy="0"/>
          <a:chOff x="0" y="0"/>
          <a:chExt cx="0" cy="0"/>
        </a:xfrm>
      </p:grpSpPr>
      <p:sp>
        <p:nvSpPr>
          <p:cNvPr id="268" name="Google Shape;268;p31"/>
          <p:cNvSpPr txBox="1"/>
          <p:nvPr/>
        </p:nvSpPr>
        <p:spPr>
          <a:xfrm>
            <a:off x="424070"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Hypothesis Testing</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69" name="Google Shape;269;p31"/>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sp>
        <p:nvSpPr>
          <p:cNvPr id="270" name="Google Shape;270;p31"/>
          <p:cNvSpPr txBox="1"/>
          <p:nvPr/>
        </p:nvSpPr>
        <p:spPr>
          <a:xfrm>
            <a:off x="424075" y="764329"/>
            <a:ext cx="8193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Hypothesis 1: </a:t>
            </a:r>
            <a:r>
              <a:rPr b="1" lang="en-US" sz="1700">
                <a:solidFill>
                  <a:schemeClr val="dk1"/>
                </a:solidFill>
              </a:rPr>
              <a:t>Do Paid Courses Have Different Ratings than Free Courses?</a:t>
            </a:r>
            <a:endParaRPr b="1" sz="1800">
              <a:solidFill>
                <a:srgbClr val="FF0000"/>
              </a:solidFill>
              <a:latin typeface="Times New Roman"/>
              <a:ea typeface="Times New Roman"/>
              <a:cs typeface="Times New Roman"/>
              <a:sym typeface="Times New Roman"/>
            </a:endParaRPr>
          </a:p>
        </p:txBody>
      </p:sp>
      <p:sp>
        <p:nvSpPr>
          <p:cNvPr id="271" name="Google Shape;271;p31"/>
          <p:cNvSpPr txBox="1"/>
          <p:nvPr/>
        </p:nvSpPr>
        <p:spPr>
          <a:xfrm>
            <a:off x="424075" y="1133625"/>
            <a:ext cx="11602200" cy="52641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1" lang="en-US" sz="1600">
                <a:solidFill>
                  <a:schemeClr val="dk1"/>
                </a:solidFill>
                <a:latin typeface="Times New Roman"/>
                <a:ea typeface="Times New Roman"/>
                <a:cs typeface="Times New Roman"/>
                <a:sym typeface="Times New Roman"/>
              </a:rPr>
              <a:t>Hypotheses</a:t>
            </a:r>
            <a:endParaRPr/>
          </a:p>
          <a:p>
            <a:pPr indent="-285750" lvl="0" marL="285750" marR="0" rtl="0" algn="l">
              <a:lnSpc>
                <a:spcPct val="200000"/>
              </a:lnSpc>
              <a:spcBef>
                <a:spcPts val="0"/>
              </a:spcBef>
              <a:spcAft>
                <a:spcPts val="0"/>
              </a:spcAft>
              <a:buClr>
                <a:schemeClr val="dk1"/>
              </a:buClr>
              <a:buSzPts val="1600"/>
              <a:buFont typeface="Arial"/>
              <a:buChar char="•"/>
            </a:pPr>
            <a:r>
              <a:rPr b="1" lang="en-US" sz="1600">
                <a:solidFill>
                  <a:schemeClr val="dk1"/>
                </a:solidFill>
                <a:latin typeface="Times New Roman"/>
                <a:ea typeface="Times New Roman"/>
                <a:cs typeface="Times New Roman"/>
                <a:sym typeface="Times New Roman"/>
              </a:rPr>
              <a:t>H₀ (Null Hypothesis):</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There is no significant difference in average ratings between Free and Paid courses.</a:t>
            </a:r>
            <a:endParaRPr sz="1600">
              <a:solidFill>
                <a:schemeClr val="dk1"/>
              </a:solidFill>
              <a:latin typeface="Times New Roman"/>
              <a:ea typeface="Times New Roman"/>
              <a:cs typeface="Times New Roman"/>
              <a:sym typeface="Times New Roman"/>
            </a:endParaRPr>
          </a:p>
          <a:p>
            <a:pPr indent="-285750" lvl="0" marL="285750" marR="0" rtl="0" algn="l">
              <a:lnSpc>
                <a:spcPct val="200000"/>
              </a:lnSpc>
              <a:spcBef>
                <a:spcPts val="0"/>
              </a:spcBef>
              <a:spcAft>
                <a:spcPts val="0"/>
              </a:spcAft>
              <a:buClr>
                <a:schemeClr val="dk1"/>
              </a:buClr>
              <a:buSzPts val="1600"/>
              <a:buFont typeface="Arial"/>
              <a:buChar char="•"/>
            </a:pPr>
            <a:r>
              <a:rPr b="1" lang="en-US" sz="1600">
                <a:solidFill>
                  <a:schemeClr val="dk1"/>
                </a:solidFill>
                <a:latin typeface="Times New Roman"/>
                <a:ea typeface="Times New Roman"/>
                <a:cs typeface="Times New Roman"/>
                <a:sym typeface="Times New Roman"/>
              </a:rPr>
              <a:t>H₁ (Alternative Hypothesis):</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There is a significant difference in average ratings between Free and Paid courses.</a:t>
            </a:r>
            <a:r>
              <a:rPr lang="en-US" sz="1600">
                <a:solidFill>
                  <a:schemeClr val="dk1"/>
                </a:solidFill>
                <a:latin typeface="Times New Roman"/>
                <a:ea typeface="Times New Roman"/>
                <a:cs typeface="Times New Roman"/>
                <a:sym typeface="Times New Roman"/>
              </a:rPr>
              <a:t>.</a:t>
            </a:r>
            <a:endParaRPr b="1"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Method Used: </a:t>
            </a:r>
            <a:r>
              <a:rPr lang="en-US" sz="1600">
                <a:solidFill>
                  <a:schemeClr val="dk1"/>
                </a:solidFill>
                <a:latin typeface="Times New Roman"/>
                <a:ea typeface="Times New Roman"/>
                <a:cs typeface="Times New Roman"/>
                <a:sym typeface="Times New Roman"/>
              </a:rPr>
              <a:t>Independent Two-Sample t-test</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Result: </a:t>
            </a:r>
            <a:r>
              <a:rPr lang="en-US" sz="1600">
                <a:solidFill>
                  <a:schemeClr val="dk1"/>
                </a:solidFill>
                <a:latin typeface="Times New Roman"/>
                <a:ea typeface="Times New Roman"/>
                <a:cs typeface="Times New Roman"/>
                <a:sym typeface="Times New Roman"/>
              </a:rPr>
              <a:t>t-statistic = 5.73</a:t>
            </a:r>
            <a:endParaRPr sz="1600">
              <a:solidFill>
                <a:schemeClr val="dk1"/>
              </a:solidFill>
              <a:latin typeface="Times New Roman"/>
              <a:ea typeface="Times New Roman"/>
              <a:cs typeface="Times New Roman"/>
              <a:sym typeface="Times New Roman"/>
            </a:endParaRPr>
          </a:p>
          <a:p>
            <a:pPr indent="0" lvl="0" marL="0" rtl="0" algn="just">
              <a:lnSpc>
                <a:spcPct val="2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p-value = 2.10e-08</a:t>
            </a:r>
            <a:endParaRPr sz="1600">
              <a:solidFill>
                <a:schemeClr val="dk1"/>
              </a:solidFill>
              <a:latin typeface="Times New Roman"/>
              <a:ea typeface="Times New Roman"/>
              <a:cs typeface="Times New Roman"/>
              <a:sym typeface="Times New Roman"/>
            </a:endParaRPr>
          </a:p>
          <a:p>
            <a:pPr indent="0" lvl="0" marL="0" rtl="0" algn="just">
              <a:lnSpc>
                <a:spcPct val="2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Significance level (α) = 0.05</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Conclusion: </a:t>
            </a:r>
            <a:r>
              <a:rPr lang="en-US" sz="1600">
                <a:solidFill>
                  <a:schemeClr val="dk1"/>
                </a:solidFill>
                <a:latin typeface="Times New Roman"/>
                <a:ea typeface="Times New Roman"/>
                <a:cs typeface="Times New Roman"/>
                <a:sym typeface="Times New Roman"/>
              </a:rPr>
              <a:t>Reject H₀</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lang="en-US" sz="1600">
                <a:solidFill>
                  <a:schemeClr val="dk1"/>
                </a:solidFill>
                <a:latin typeface="Times New Roman"/>
                <a:ea typeface="Times New Roman"/>
                <a:cs typeface="Times New Roman"/>
                <a:sym typeface="Times New Roman"/>
              </a:rPr>
              <a:t>There is a statistically significant difference in ratings.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32"/>
          <p:cNvSpPr txBox="1"/>
          <p:nvPr/>
        </p:nvSpPr>
        <p:spPr>
          <a:xfrm>
            <a:off x="424070" y="232816"/>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Hypothesis Testing</a:t>
            </a:r>
            <a:endParaRPr/>
          </a:p>
          <a:p>
            <a:pPr indent="0" lvl="0" marL="0" marR="0" rtl="0" algn="l">
              <a:lnSpc>
                <a:spcPct val="90000"/>
              </a:lnSpc>
              <a:spcBef>
                <a:spcPts val="0"/>
              </a:spcBef>
              <a:spcAft>
                <a:spcPts val="0"/>
              </a:spcAft>
              <a:buClr>
                <a:schemeClr val="dk1"/>
              </a:buClr>
              <a:buSzPts val="4000"/>
              <a:buFont typeface="Calibri"/>
              <a:buNone/>
            </a:pPr>
            <a:r>
              <a:t/>
            </a:r>
            <a:endParaRPr b="1" sz="4000">
              <a:solidFill>
                <a:srgbClr val="FF0000"/>
              </a:solidFill>
              <a:latin typeface="Times New Roman"/>
              <a:ea typeface="Times New Roman"/>
              <a:cs typeface="Times New Roman"/>
              <a:sym typeface="Times New Roman"/>
            </a:endParaRPr>
          </a:p>
        </p:txBody>
      </p:sp>
      <p:pic>
        <p:nvPicPr>
          <p:cNvPr descr="A close up of a logo&#10;&#10;AI-generated content may be incorrect." id="278" name="Google Shape;278;p32"/>
          <p:cNvPicPr preferRelativeResize="0"/>
          <p:nvPr/>
        </p:nvPicPr>
        <p:blipFill rotWithShape="1">
          <a:blip r:embed="rId3">
            <a:alphaModFix/>
          </a:blip>
          <a:srcRect b="30658" l="22201" r="22736" t="18728"/>
          <a:stretch/>
        </p:blipFill>
        <p:spPr>
          <a:xfrm>
            <a:off x="9611138" y="6260926"/>
            <a:ext cx="2580861" cy="584662"/>
          </a:xfrm>
          <a:prstGeom prst="rect">
            <a:avLst/>
          </a:prstGeom>
          <a:noFill/>
          <a:ln>
            <a:noFill/>
          </a:ln>
        </p:spPr>
      </p:pic>
      <p:sp>
        <p:nvSpPr>
          <p:cNvPr id="279" name="Google Shape;279;p32"/>
          <p:cNvSpPr txBox="1"/>
          <p:nvPr/>
        </p:nvSpPr>
        <p:spPr>
          <a:xfrm>
            <a:off x="424070" y="955547"/>
            <a:ext cx="8550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Hypothesis 2: </a:t>
            </a:r>
            <a:r>
              <a:rPr b="1" lang="en-US" sz="1700">
                <a:solidFill>
                  <a:schemeClr val="dk1"/>
                </a:solidFill>
              </a:rPr>
              <a:t>Do Paid Courses Receive More Reviews?</a:t>
            </a:r>
            <a:endParaRPr b="1" sz="1800">
              <a:solidFill>
                <a:srgbClr val="FF0000"/>
              </a:solidFill>
              <a:latin typeface="Times New Roman"/>
              <a:ea typeface="Times New Roman"/>
              <a:cs typeface="Times New Roman"/>
              <a:sym typeface="Times New Roman"/>
            </a:endParaRPr>
          </a:p>
        </p:txBody>
      </p:sp>
      <p:sp>
        <p:nvSpPr>
          <p:cNvPr id="280" name="Google Shape;280;p32"/>
          <p:cNvSpPr txBox="1"/>
          <p:nvPr/>
        </p:nvSpPr>
        <p:spPr>
          <a:xfrm>
            <a:off x="424070" y="1387045"/>
            <a:ext cx="11572500" cy="52641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1" lang="en-US" sz="1600">
                <a:solidFill>
                  <a:schemeClr val="dk1"/>
                </a:solidFill>
                <a:latin typeface="Times New Roman"/>
                <a:ea typeface="Times New Roman"/>
                <a:cs typeface="Times New Roman"/>
                <a:sym typeface="Times New Roman"/>
              </a:rPr>
              <a:t>Hypotheses</a:t>
            </a:r>
            <a:endParaRPr sz="1600">
              <a:solidFill>
                <a:schemeClr val="dk1"/>
              </a:solidFill>
              <a:latin typeface="Times New Roman"/>
              <a:ea typeface="Times New Roman"/>
              <a:cs typeface="Times New Roman"/>
              <a:sym typeface="Times New Roman"/>
            </a:endParaRPr>
          </a:p>
          <a:p>
            <a:pPr indent="-285750" lvl="0" marL="285750" marR="0" rtl="0" algn="l">
              <a:lnSpc>
                <a:spcPct val="200000"/>
              </a:lnSpc>
              <a:spcBef>
                <a:spcPts val="0"/>
              </a:spcBef>
              <a:spcAft>
                <a:spcPts val="0"/>
              </a:spcAft>
              <a:buClr>
                <a:schemeClr val="dk1"/>
              </a:buClr>
              <a:buSzPts val="1600"/>
              <a:buFont typeface="Arial"/>
              <a:buChar char="•"/>
            </a:pPr>
            <a:r>
              <a:rPr b="1" lang="en-US" sz="1600">
                <a:solidFill>
                  <a:schemeClr val="dk1"/>
                </a:solidFill>
                <a:latin typeface="Times New Roman"/>
                <a:ea typeface="Times New Roman"/>
                <a:cs typeface="Times New Roman"/>
                <a:sym typeface="Times New Roman"/>
              </a:rPr>
              <a:t>H₀ (Null Hypothesis):</a:t>
            </a:r>
            <a:endParaRPr sz="1600">
              <a:solidFill>
                <a:schemeClr val="dk1"/>
              </a:solidFill>
              <a:latin typeface="Times New Roman"/>
              <a:ea typeface="Times New Roman"/>
              <a:cs typeface="Times New Roman"/>
              <a:sym typeface="Times New Roman"/>
            </a:endParaRPr>
          </a:p>
          <a:p>
            <a:pPr indent="0" lvl="0" marL="0" marR="0" rtl="0" algn="l">
              <a:lnSpc>
                <a:spcPct val="200000"/>
              </a:lnSpc>
              <a:spcBef>
                <a:spcPts val="0"/>
              </a:spcBef>
              <a:spcAft>
                <a:spcPts val="0"/>
              </a:spcAft>
              <a:buNone/>
            </a:pPr>
            <a:r>
              <a:rPr lang="en-US" sz="1600">
                <a:solidFill>
                  <a:schemeClr val="dk1"/>
                </a:solidFill>
                <a:latin typeface="Times New Roman"/>
                <a:ea typeface="Times New Roman"/>
                <a:cs typeface="Times New Roman"/>
                <a:sym typeface="Times New Roman"/>
              </a:rPr>
              <a:t>      There is no significant difference in review counts.</a:t>
            </a:r>
            <a:endParaRPr sz="1600">
              <a:solidFill>
                <a:schemeClr val="dk1"/>
              </a:solidFill>
              <a:latin typeface="Times New Roman"/>
              <a:ea typeface="Times New Roman"/>
              <a:cs typeface="Times New Roman"/>
              <a:sym typeface="Times New Roman"/>
            </a:endParaRPr>
          </a:p>
          <a:p>
            <a:pPr indent="-285750" lvl="0" marL="285750" marR="0" rtl="0" algn="l">
              <a:lnSpc>
                <a:spcPct val="200000"/>
              </a:lnSpc>
              <a:spcBef>
                <a:spcPts val="0"/>
              </a:spcBef>
              <a:spcAft>
                <a:spcPts val="0"/>
              </a:spcAft>
              <a:buClr>
                <a:schemeClr val="dk1"/>
              </a:buClr>
              <a:buSzPts val="1600"/>
              <a:buFont typeface="Arial"/>
              <a:buChar char="•"/>
            </a:pPr>
            <a:r>
              <a:rPr b="1" lang="en-US" sz="1600">
                <a:solidFill>
                  <a:schemeClr val="dk1"/>
                </a:solidFill>
                <a:latin typeface="Times New Roman"/>
                <a:ea typeface="Times New Roman"/>
                <a:cs typeface="Times New Roman"/>
                <a:sym typeface="Times New Roman"/>
              </a:rPr>
              <a:t>H₁</a:t>
            </a:r>
            <a:r>
              <a:rPr b="1" lang="en-US" sz="1600">
                <a:solidFill>
                  <a:schemeClr val="dk1"/>
                </a:solidFill>
                <a:latin typeface="Times New Roman"/>
                <a:ea typeface="Times New Roman"/>
                <a:cs typeface="Times New Roman"/>
                <a:sym typeface="Times New Roman"/>
              </a:rPr>
              <a:t> </a:t>
            </a:r>
            <a:r>
              <a:rPr b="1" lang="en-US" sz="1600">
                <a:solidFill>
                  <a:schemeClr val="dk1"/>
                </a:solidFill>
                <a:latin typeface="Times New Roman"/>
                <a:ea typeface="Times New Roman"/>
                <a:cs typeface="Times New Roman"/>
                <a:sym typeface="Times New Roman"/>
              </a:rPr>
              <a:t>(Alternative Hypothesis):</a:t>
            </a:r>
            <a:endParaRPr sz="1600">
              <a:solidFill>
                <a:schemeClr val="dk1"/>
              </a:solidFill>
              <a:latin typeface="Times New Roman"/>
              <a:ea typeface="Times New Roman"/>
              <a:cs typeface="Times New Roman"/>
              <a:sym typeface="Times New Roman"/>
            </a:endParaRPr>
          </a:p>
          <a:p>
            <a:pPr indent="0" lvl="0" marL="0" marR="0" rtl="0" algn="l">
              <a:lnSpc>
                <a:spcPct val="200000"/>
              </a:lnSpc>
              <a:spcBef>
                <a:spcPts val="0"/>
              </a:spcBef>
              <a:spcAft>
                <a:spcPts val="0"/>
              </a:spcAft>
              <a:buNone/>
            </a:pPr>
            <a:r>
              <a:rPr lang="en-US" sz="1600">
                <a:solidFill>
                  <a:schemeClr val="dk1"/>
                </a:solidFill>
                <a:latin typeface="Times New Roman"/>
                <a:ea typeface="Times New Roman"/>
                <a:cs typeface="Times New Roman"/>
                <a:sym typeface="Times New Roman"/>
              </a:rPr>
              <a:t>      There is a significant difference in review counts.</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Method Used: </a:t>
            </a:r>
            <a:r>
              <a:rPr lang="en-US" sz="1600">
                <a:solidFill>
                  <a:schemeClr val="dk1"/>
                </a:solidFill>
                <a:latin typeface="Times New Roman"/>
                <a:ea typeface="Times New Roman"/>
                <a:cs typeface="Times New Roman"/>
                <a:sym typeface="Times New Roman"/>
              </a:rPr>
              <a:t>Independent Two-Sample t-test</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Result: </a:t>
            </a:r>
            <a:r>
              <a:rPr lang="en-US" sz="1600">
                <a:solidFill>
                  <a:schemeClr val="dk1"/>
                </a:solidFill>
                <a:latin typeface="Times New Roman"/>
                <a:ea typeface="Times New Roman"/>
                <a:cs typeface="Times New Roman"/>
                <a:sym typeface="Times New Roman"/>
              </a:rPr>
              <a:t>t-statistic = 5.73</a:t>
            </a:r>
            <a:endParaRPr sz="1600">
              <a:solidFill>
                <a:schemeClr val="dk1"/>
              </a:solidFill>
              <a:latin typeface="Times New Roman"/>
              <a:ea typeface="Times New Roman"/>
              <a:cs typeface="Times New Roman"/>
              <a:sym typeface="Times New Roman"/>
            </a:endParaRPr>
          </a:p>
          <a:p>
            <a:pPr indent="0" lvl="0" marL="0" rtl="0" algn="just">
              <a:lnSpc>
                <a:spcPct val="2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p-value = 2.10e-08</a:t>
            </a:r>
            <a:endParaRPr sz="1600">
              <a:solidFill>
                <a:schemeClr val="dk1"/>
              </a:solidFill>
              <a:latin typeface="Times New Roman"/>
              <a:ea typeface="Times New Roman"/>
              <a:cs typeface="Times New Roman"/>
              <a:sym typeface="Times New Roman"/>
            </a:endParaRPr>
          </a:p>
          <a:p>
            <a:pPr indent="0" lvl="0" marL="0" rtl="0" algn="just">
              <a:lnSpc>
                <a:spcPct val="2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Significance level (α) = 0.05</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Conclusion: </a:t>
            </a:r>
            <a:r>
              <a:rPr lang="en-US" sz="1600">
                <a:solidFill>
                  <a:schemeClr val="dk1"/>
                </a:solidFill>
                <a:latin typeface="Times New Roman"/>
                <a:ea typeface="Times New Roman"/>
                <a:cs typeface="Times New Roman"/>
                <a:sym typeface="Times New Roman"/>
              </a:rPr>
              <a:t>Reject H₀</a:t>
            </a:r>
            <a:endParaRPr sz="1600">
              <a:solidFill>
                <a:schemeClr val="dk1"/>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chemeClr val="dk1"/>
              </a:buClr>
              <a:buSzPts val="1600"/>
              <a:buFont typeface="Times New Roman"/>
              <a:buNone/>
            </a:pPr>
            <a:r>
              <a:rPr lang="en-US" sz="1600">
                <a:solidFill>
                  <a:schemeClr val="dk1"/>
                </a:solidFill>
                <a:latin typeface="Times New Roman"/>
                <a:ea typeface="Times New Roman"/>
                <a:cs typeface="Times New Roman"/>
                <a:sym typeface="Times New Roman"/>
              </a:rPr>
              <a:t>There is a statistically significant difference in ratings.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descr="A close up of a logo&#10;&#10;AI-generated content may be incorrect." id="285" name="Google Shape;285;p33"/>
          <p:cNvPicPr preferRelativeResize="0"/>
          <p:nvPr/>
        </p:nvPicPr>
        <p:blipFill rotWithShape="1">
          <a:blip r:embed="rId3">
            <a:alphaModFix/>
          </a:blip>
          <a:srcRect b="30658" l="22201" r="22736" t="18728"/>
          <a:stretch/>
        </p:blipFill>
        <p:spPr>
          <a:xfrm>
            <a:off x="9276080" y="6186875"/>
            <a:ext cx="2915920" cy="660565"/>
          </a:xfrm>
          <a:prstGeom prst="rect">
            <a:avLst/>
          </a:prstGeom>
          <a:noFill/>
          <a:ln>
            <a:noFill/>
          </a:ln>
        </p:spPr>
      </p:pic>
      <p:sp>
        <p:nvSpPr>
          <p:cNvPr id="286" name="Google Shape;286;p33"/>
          <p:cNvSpPr txBox="1"/>
          <p:nvPr/>
        </p:nvSpPr>
        <p:spPr>
          <a:xfrm>
            <a:off x="334000" y="340842"/>
            <a:ext cx="10701274"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Key</a:t>
            </a:r>
            <a:r>
              <a:rPr lang="en-US" sz="4000">
                <a:solidFill>
                  <a:schemeClr val="dk1"/>
                </a:solidFill>
                <a:latin typeface="Calibri"/>
                <a:ea typeface="Calibri"/>
                <a:cs typeface="Calibri"/>
                <a:sym typeface="Calibri"/>
              </a:rPr>
              <a:t> </a:t>
            </a:r>
            <a:r>
              <a:rPr b="1" lang="en-US" sz="4000">
                <a:solidFill>
                  <a:srgbClr val="FF0000"/>
                </a:solidFill>
                <a:latin typeface="Times New Roman"/>
                <a:ea typeface="Times New Roman"/>
                <a:cs typeface="Times New Roman"/>
                <a:sym typeface="Times New Roman"/>
              </a:rPr>
              <a:t>Insights</a:t>
            </a:r>
            <a:r>
              <a:rPr lang="en-US" sz="4000">
                <a:solidFill>
                  <a:schemeClr val="dk1"/>
                </a:solidFill>
                <a:latin typeface="Calibri"/>
                <a:ea typeface="Calibri"/>
                <a:cs typeface="Calibri"/>
                <a:sym typeface="Calibri"/>
              </a:rPr>
              <a:t> </a:t>
            </a:r>
            <a:r>
              <a:rPr b="1" lang="en-US" sz="4000">
                <a:solidFill>
                  <a:srgbClr val="FF0000"/>
                </a:solidFill>
                <a:latin typeface="Times New Roman"/>
                <a:ea typeface="Times New Roman"/>
                <a:cs typeface="Times New Roman"/>
                <a:sym typeface="Times New Roman"/>
              </a:rPr>
              <a:t>&amp;</a:t>
            </a:r>
            <a:r>
              <a:rPr lang="en-US" sz="4000">
                <a:solidFill>
                  <a:schemeClr val="dk1"/>
                </a:solidFill>
                <a:latin typeface="Calibri"/>
                <a:ea typeface="Calibri"/>
                <a:cs typeface="Calibri"/>
                <a:sym typeface="Calibri"/>
              </a:rPr>
              <a:t> </a:t>
            </a:r>
            <a:r>
              <a:rPr b="1" lang="en-US" sz="4000">
                <a:solidFill>
                  <a:srgbClr val="FF0000"/>
                </a:solidFill>
                <a:latin typeface="Times New Roman"/>
                <a:ea typeface="Times New Roman"/>
                <a:cs typeface="Times New Roman"/>
                <a:sym typeface="Times New Roman"/>
              </a:rPr>
              <a:t>Recommendations</a:t>
            </a:r>
            <a:endParaRPr/>
          </a:p>
        </p:txBody>
      </p:sp>
      <p:sp>
        <p:nvSpPr>
          <p:cNvPr id="287" name="Google Shape;287;p33"/>
          <p:cNvSpPr txBox="1"/>
          <p:nvPr/>
        </p:nvSpPr>
        <p:spPr>
          <a:xfrm>
            <a:off x="334000" y="1054984"/>
            <a:ext cx="11722200" cy="53727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1800">
                <a:solidFill>
                  <a:schemeClr val="dk1"/>
                </a:solidFill>
                <a:latin typeface="Times New Roman"/>
                <a:ea typeface="Times New Roman"/>
                <a:cs typeface="Times New Roman"/>
                <a:sym typeface="Times New Roman"/>
              </a:rPr>
              <a:t>Key Insights:</a:t>
            </a:r>
            <a:endParaRPr b="1" sz="1800">
              <a:solidFill>
                <a:schemeClr val="dk1"/>
              </a:solidFill>
              <a:latin typeface="Times New Roman"/>
              <a:ea typeface="Times New Roman"/>
              <a:cs typeface="Times New Roman"/>
              <a:sym typeface="Times New Roman"/>
            </a:endParaRPr>
          </a:p>
          <a:p>
            <a:pPr indent="-342900" lvl="0" marL="457200" marR="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Paid courses have significantly higher average ratings compared to free courses.</a:t>
            </a:r>
            <a:endParaRPr b="1"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No statistically significant difference exists in review counts between free and paid courses.</a:t>
            </a:r>
            <a:endParaRPr b="1"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Review distribution is highly skewed — a few courses receive extremely high engagement.</a:t>
            </a:r>
            <a:endParaRPr b="1"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Higher ratings are moderately associated with higher review counts.</a:t>
            </a:r>
            <a:endParaRPr b="1"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Some platforms consistently show higher average ratings than others</a:t>
            </a:r>
            <a:endParaRPr b="1" sz="18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US" sz="1800">
                <a:solidFill>
                  <a:schemeClr val="dk1"/>
                </a:solidFill>
                <a:latin typeface="Times New Roman"/>
                <a:ea typeface="Times New Roman"/>
                <a:cs typeface="Times New Roman"/>
                <a:sym typeface="Times New Roman"/>
              </a:rPr>
              <a:t>Recommendations:</a:t>
            </a:r>
            <a:endParaRPr b="1" sz="18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US" sz="1300">
                <a:solidFill>
                  <a:schemeClr val="dk1"/>
                </a:solidFill>
              </a:rPr>
              <a:t>For Learners</a:t>
            </a:r>
            <a:endParaRPr b="1" sz="13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Paid courses may offer better perceived quality based on ratings.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Review count should be considered along with rating for better course selection.</a:t>
            </a:r>
            <a:endParaRPr sz="1600">
              <a:solidFill>
                <a:schemeClr val="dk1"/>
              </a:solidFill>
            </a:endParaRPr>
          </a:p>
          <a:p>
            <a:pPr indent="0" lvl="0" marL="0" rtl="0" algn="l">
              <a:lnSpc>
                <a:spcPct val="115000"/>
              </a:lnSpc>
              <a:spcBef>
                <a:spcPts val="1200"/>
              </a:spcBef>
              <a:spcAft>
                <a:spcPts val="0"/>
              </a:spcAft>
              <a:buNone/>
            </a:pPr>
            <a:r>
              <a:rPr b="1" lang="en-US" sz="1300">
                <a:solidFill>
                  <a:schemeClr val="dk1"/>
                </a:solidFill>
              </a:rPr>
              <a:t>For Course Providers</a:t>
            </a:r>
            <a:endParaRPr b="1" sz="13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Pricing strategy influences perceived course quality.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Improving content quality may increase both ratings and engagement.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Encouraging reviews can improve visibility and credibility.</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descr="A close up of a logo&#10;&#10;AI-generated content may be incorrect." id="292" name="Google Shape;292;p34"/>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293" name="Google Shape;293;p34"/>
          <p:cNvSpPr txBox="1"/>
          <p:nvPr/>
        </p:nvSpPr>
        <p:spPr>
          <a:xfrm>
            <a:off x="720518" y="261363"/>
            <a:ext cx="9727096" cy="6605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Times New Roman"/>
              <a:buNone/>
            </a:pPr>
            <a:r>
              <a:rPr b="1" lang="en-US" sz="4000">
                <a:solidFill>
                  <a:srgbClr val="FF0000"/>
                </a:solidFill>
                <a:latin typeface="Times New Roman"/>
                <a:ea typeface="Times New Roman"/>
                <a:cs typeface="Times New Roman"/>
                <a:sym typeface="Times New Roman"/>
              </a:rPr>
              <a:t>Conclusion</a:t>
            </a:r>
            <a:br>
              <a:rPr b="1" lang="en-US" sz="4000">
                <a:solidFill>
                  <a:srgbClr val="FF0000"/>
                </a:solidFill>
                <a:latin typeface="Times New Roman"/>
                <a:ea typeface="Times New Roman"/>
                <a:cs typeface="Times New Roman"/>
                <a:sym typeface="Times New Roman"/>
              </a:rPr>
            </a:br>
            <a:br>
              <a:rPr b="1" lang="en-US" sz="4000">
                <a:solidFill>
                  <a:srgbClr val="FF0000"/>
                </a:solidFill>
                <a:latin typeface="Times New Roman"/>
                <a:ea typeface="Times New Roman"/>
                <a:cs typeface="Times New Roman"/>
                <a:sym typeface="Times New Roman"/>
              </a:rPr>
            </a:br>
            <a:endParaRPr b="1" sz="4000">
              <a:solidFill>
                <a:srgbClr val="FF0000"/>
              </a:solidFill>
              <a:latin typeface="Times New Roman"/>
              <a:ea typeface="Times New Roman"/>
              <a:cs typeface="Times New Roman"/>
              <a:sym typeface="Times New Roman"/>
            </a:endParaRPr>
          </a:p>
        </p:txBody>
      </p:sp>
      <p:sp>
        <p:nvSpPr>
          <p:cNvPr id="294" name="Google Shape;294;p34"/>
          <p:cNvSpPr/>
          <p:nvPr/>
        </p:nvSpPr>
        <p:spPr>
          <a:xfrm>
            <a:off x="720525" y="921925"/>
            <a:ext cx="11037600" cy="5174400"/>
          </a:xfrm>
          <a:prstGeom prst="rect">
            <a:avLst/>
          </a:prstGeom>
          <a:noFill/>
          <a:ln>
            <a:noFill/>
          </a:ln>
        </p:spPr>
        <p:txBody>
          <a:bodyPr anchorCtr="0" anchor="ctr"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lang="en-US" sz="2500">
                <a:solidFill>
                  <a:schemeClr val="dk1"/>
                </a:solidFill>
                <a:latin typeface="Times New Roman"/>
                <a:ea typeface="Times New Roman"/>
                <a:cs typeface="Times New Roman"/>
                <a:sym typeface="Times New Roman"/>
              </a:rPr>
              <a:t>There is a statistically significant difference in ratings between Free and Paid courses.</a:t>
            </a:r>
            <a:br>
              <a:rPr lang="en-US" sz="2500">
                <a:solidFill>
                  <a:schemeClr val="dk1"/>
                </a:solidFill>
                <a:latin typeface="Times New Roman"/>
                <a:ea typeface="Times New Roman"/>
                <a:cs typeface="Times New Roman"/>
                <a:sym typeface="Times New Roman"/>
              </a:rPr>
            </a:br>
            <a:endParaRPr sz="25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Char char="•"/>
            </a:pPr>
            <a:r>
              <a:rPr lang="en-US" sz="2500">
                <a:solidFill>
                  <a:schemeClr val="dk1"/>
                </a:solidFill>
                <a:latin typeface="Times New Roman"/>
                <a:ea typeface="Times New Roman"/>
                <a:cs typeface="Times New Roman"/>
                <a:sym typeface="Times New Roman"/>
              </a:rPr>
              <a:t>Paid courses tend to receive higher average ratings.</a:t>
            </a:r>
            <a:br>
              <a:rPr lang="en-US" sz="2500">
                <a:solidFill>
                  <a:schemeClr val="dk1"/>
                </a:solidFill>
                <a:latin typeface="Times New Roman"/>
                <a:ea typeface="Times New Roman"/>
                <a:cs typeface="Times New Roman"/>
                <a:sym typeface="Times New Roman"/>
              </a:rPr>
            </a:br>
            <a:endParaRPr sz="25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Char char="•"/>
            </a:pPr>
            <a:r>
              <a:rPr lang="en-US" sz="2500">
                <a:solidFill>
                  <a:schemeClr val="dk1"/>
                </a:solidFill>
                <a:latin typeface="Times New Roman"/>
                <a:ea typeface="Times New Roman"/>
                <a:cs typeface="Times New Roman"/>
                <a:sym typeface="Times New Roman"/>
              </a:rPr>
              <a:t>No significant difference was found in review counts between course types.</a:t>
            </a:r>
            <a:br>
              <a:rPr lang="en-US" sz="2500">
                <a:solidFill>
                  <a:schemeClr val="dk1"/>
                </a:solidFill>
                <a:latin typeface="Times New Roman"/>
                <a:ea typeface="Times New Roman"/>
                <a:cs typeface="Times New Roman"/>
                <a:sym typeface="Times New Roman"/>
              </a:rPr>
            </a:br>
            <a:endParaRPr sz="25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Char char="•"/>
            </a:pPr>
            <a:r>
              <a:rPr lang="en-US" sz="2500">
                <a:solidFill>
                  <a:schemeClr val="dk1"/>
                </a:solidFill>
                <a:latin typeface="Times New Roman"/>
                <a:ea typeface="Times New Roman"/>
                <a:cs typeface="Times New Roman"/>
                <a:sym typeface="Times New Roman"/>
              </a:rPr>
              <a:t>Course engagement is unevenly distributed, with few courses dominating reviews.</a:t>
            </a:r>
            <a:br>
              <a:rPr lang="en-US" sz="2500">
                <a:solidFill>
                  <a:schemeClr val="dk1"/>
                </a:solidFill>
                <a:latin typeface="Times New Roman"/>
                <a:ea typeface="Times New Roman"/>
                <a:cs typeface="Times New Roman"/>
                <a:sym typeface="Times New Roman"/>
              </a:rPr>
            </a:br>
            <a:endParaRPr sz="25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Char char="•"/>
            </a:pPr>
            <a:r>
              <a:rPr lang="en-US" sz="2500">
                <a:solidFill>
                  <a:schemeClr val="dk1"/>
                </a:solidFill>
                <a:latin typeface="Times New Roman"/>
                <a:ea typeface="Times New Roman"/>
                <a:cs typeface="Times New Roman"/>
                <a:sym typeface="Times New Roman"/>
              </a:rPr>
              <a:t>Pricing appears to influence perceived quality, but not necessarily engagement.</a:t>
            </a:r>
            <a:br>
              <a:rPr lang="en-US" sz="2500">
                <a:solidFill>
                  <a:schemeClr val="dk1"/>
                </a:solidFill>
                <a:latin typeface="Times New Roman"/>
                <a:ea typeface="Times New Roman"/>
                <a:cs typeface="Times New Roman"/>
                <a:sym typeface="Times New Roman"/>
              </a:rPr>
            </a:b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A close up of a logo&#10;&#10;AI-generated content may be incorrect." id="299" name="Google Shape;299;p35"/>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sp>
        <p:nvSpPr>
          <p:cNvPr id="300" name="Google Shape;300;p35"/>
          <p:cNvSpPr txBox="1"/>
          <p:nvPr/>
        </p:nvSpPr>
        <p:spPr>
          <a:xfrm>
            <a:off x="2435498" y="390434"/>
            <a:ext cx="2854960" cy="54784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5000">
                <a:solidFill>
                  <a:srgbClr val="FF0000"/>
                </a:solidFill>
                <a:latin typeface="Times New Roman"/>
                <a:ea typeface="Times New Roman"/>
                <a:cs typeface="Times New Roman"/>
                <a:sym typeface="Times New Roman"/>
              </a:rPr>
              <a:t>?</a:t>
            </a:r>
            <a:endParaRPr/>
          </a:p>
        </p:txBody>
      </p:sp>
      <p:sp>
        <p:nvSpPr>
          <p:cNvPr id="301" name="Google Shape;301;p35"/>
          <p:cNvSpPr txBox="1"/>
          <p:nvPr/>
        </p:nvSpPr>
        <p:spPr>
          <a:xfrm>
            <a:off x="4602480" y="2497976"/>
            <a:ext cx="6146800"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dk1"/>
                </a:solidFill>
                <a:latin typeface="Times New Roman"/>
                <a:ea typeface="Times New Roman"/>
                <a:cs typeface="Times New Roman"/>
                <a:sym typeface="Times New Roman"/>
              </a:rPr>
              <a:t>Any</a:t>
            </a:r>
            <a:endParaRPr/>
          </a:p>
          <a:p>
            <a:pPr indent="0" lvl="0" marL="0" marR="0" rtl="0" algn="l">
              <a:spcBef>
                <a:spcPts val="0"/>
              </a:spcBef>
              <a:spcAft>
                <a:spcPts val="0"/>
              </a:spcAft>
              <a:buNone/>
            </a:pPr>
            <a:r>
              <a:rPr b="1" lang="en-US" sz="7500">
                <a:solidFill>
                  <a:schemeClr val="dk1"/>
                </a:solidFill>
                <a:latin typeface="Times New Roman"/>
                <a:ea typeface="Times New Roman"/>
                <a:cs typeface="Times New Roman"/>
                <a:sym typeface="Times New Roman"/>
              </a:rPr>
              <a:t>Questions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A close up of a logo&#10;&#10;AI-generated content may be incorrect." id="306" name="Google Shape;306;p36"/>
          <p:cNvPicPr preferRelativeResize="0"/>
          <p:nvPr/>
        </p:nvPicPr>
        <p:blipFill rotWithShape="1">
          <a:blip r:embed="rId3">
            <a:alphaModFix/>
          </a:blip>
          <a:srcRect b="30658" l="22201" r="22736" t="18728"/>
          <a:stretch/>
        </p:blipFill>
        <p:spPr>
          <a:xfrm>
            <a:off x="9113520" y="6096264"/>
            <a:ext cx="2915920" cy="660565"/>
          </a:xfrm>
          <a:prstGeom prst="rect">
            <a:avLst/>
          </a:prstGeom>
          <a:noFill/>
          <a:ln>
            <a:noFill/>
          </a:ln>
        </p:spPr>
      </p:pic>
      <p:pic>
        <p:nvPicPr>
          <p:cNvPr id="307" name="Google Shape;307;p36"/>
          <p:cNvPicPr preferRelativeResize="0"/>
          <p:nvPr/>
        </p:nvPicPr>
        <p:blipFill rotWithShape="1">
          <a:blip r:embed="rId4">
            <a:alphaModFix/>
          </a:blip>
          <a:srcRect b="0" l="0" r="0" t="0"/>
          <a:stretch/>
        </p:blipFill>
        <p:spPr>
          <a:xfrm>
            <a:off x="7380916" y="2084429"/>
            <a:ext cx="4465643" cy="2834317"/>
          </a:xfrm>
          <a:prstGeom prst="rect">
            <a:avLst/>
          </a:prstGeom>
          <a:noFill/>
          <a:ln>
            <a:noFill/>
          </a:ln>
        </p:spPr>
      </p:pic>
      <p:sp>
        <p:nvSpPr>
          <p:cNvPr id="308" name="Google Shape;308;p36"/>
          <p:cNvSpPr txBox="1"/>
          <p:nvPr/>
        </p:nvSpPr>
        <p:spPr>
          <a:xfrm>
            <a:off x="919156" y="2390894"/>
            <a:ext cx="6096000"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4400"/>
              <a:buFont typeface="Libre Baskerville"/>
              <a:buNone/>
            </a:pPr>
            <a:r>
              <a:rPr b="0" i="1" lang="en-US" sz="10000" u="none" cap="none" strike="noStrike">
                <a:solidFill>
                  <a:srgbClr val="FF0000"/>
                </a:solidFill>
                <a:latin typeface="Times New Roman"/>
                <a:ea typeface="Times New Roman"/>
                <a:cs typeface="Times New Roman"/>
                <a:sym typeface="Times New Roman"/>
              </a:rPr>
              <a:t>Thank </a:t>
            </a:r>
            <a:r>
              <a:rPr i="1" lang="en-US" sz="10000">
                <a:solidFill>
                  <a:srgbClr val="FF0000"/>
                </a:solidFill>
                <a:latin typeface="Times New Roman"/>
                <a:ea typeface="Times New Roman"/>
                <a:cs typeface="Times New Roman"/>
                <a:sym typeface="Times New Roman"/>
              </a:rPr>
              <a:t> </a:t>
            </a:r>
            <a:r>
              <a:rPr b="0" i="1" lang="en-US" sz="10000" u="none" cap="none" strike="noStrike">
                <a:solidFill>
                  <a:srgbClr val="FF0000"/>
                </a:solidFill>
                <a:latin typeface="Times New Roman"/>
                <a:ea typeface="Times New Roman"/>
                <a:cs typeface="Times New Roman"/>
                <a:sym typeface="Times New Roman"/>
              </a:rPr>
              <a:t>you</a:t>
            </a:r>
            <a:endParaRPr b="0" i="1" sz="100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